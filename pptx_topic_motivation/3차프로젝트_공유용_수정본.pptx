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1f8310e514336" /><Relationship Type="http://schemas.openxmlformats.org/officeDocument/2006/relationships/extended-properties" Target="/docProps/app.xml" Id="Rda175fdfbf7a430e" /><Relationship Type="http://schemas.openxmlformats.org/officeDocument/2006/relationships/officeDocument" Target="/ppt/presentation.xml" Id="R7f004dbe9e1f4d3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9cb795bac77430f"/>
  </p:sldMasterIdLst>
  <p:notesMasterIdLst>
    <p:notesMasterId xmlns:r="http://schemas.openxmlformats.org/officeDocument/2006/relationships" r:id="R144b70afb5bf4706"/>
  </p:notesMasterIdLst>
  <p:sldIdLst>
    <p:sldId xmlns:r="http://schemas.openxmlformats.org/officeDocument/2006/relationships" id="256" r:id="Raea46a3e71eb4042"/>
    <p:sldId xmlns:r="http://schemas.openxmlformats.org/officeDocument/2006/relationships" id="257" r:id="R6aab7c8527894876"/>
    <p:sldId xmlns:r="http://schemas.openxmlformats.org/officeDocument/2006/relationships" id="258" r:id="R2719aa82c3f44602"/>
    <p:sldId xmlns:r="http://schemas.openxmlformats.org/officeDocument/2006/relationships" id="259" r:id="R531ecfcd0c004eed"/>
    <p:sldId xmlns:r="http://schemas.openxmlformats.org/officeDocument/2006/relationships" id="260" r:id="Rbb03176d82304585"/>
    <p:sldId xmlns:r="http://schemas.openxmlformats.org/officeDocument/2006/relationships" id="261" r:id="Rd8bb412ca79c4987"/>
    <p:sldId xmlns:r="http://schemas.openxmlformats.org/officeDocument/2006/relationships" id="262" r:id="R5f193bf198464ca4"/>
    <p:sldId xmlns:r="http://schemas.openxmlformats.org/officeDocument/2006/relationships" id="263" r:id="Rc1cf11186f1343c3"/>
    <p:sldId xmlns:r="http://schemas.openxmlformats.org/officeDocument/2006/relationships" id="264" r:id="R56adc8f79aaf47a6"/>
    <p:sldId xmlns:r="http://schemas.openxmlformats.org/officeDocument/2006/relationships" id="265" r:id="R084c3f855d51459a"/>
    <p:sldId xmlns:r="http://schemas.openxmlformats.org/officeDocument/2006/relationships" id="266" r:id="R8f17cd1c0d8648c2"/>
    <p:sldId xmlns:r="http://schemas.openxmlformats.org/officeDocument/2006/relationships" id="267" r:id="Rc2fcd1d303c24051"/>
    <p:sldId xmlns:r="http://schemas.openxmlformats.org/officeDocument/2006/relationships" id="268" r:id="R27606f222bdd495c"/>
    <p:sldId xmlns:r="http://schemas.openxmlformats.org/officeDocument/2006/relationships" id="269" r:id="Rc2417bd59e044a78"/>
    <p:sldId xmlns:r="http://schemas.openxmlformats.org/officeDocument/2006/relationships" id="270" r:id="Rd96037832f954337"/>
    <p:sldId xmlns:r="http://schemas.openxmlformats.org/officeDocument/2006/relationships" id="271" r:id="R3f2fc39baad34b28"/>
    <p:sldId xmlns:r="http://schemas.openxmlformats.org/officeDocument/2006/relationships" id="272" r:id="R4caa9ae0b15b4758"/>
  </p:sldIdLst>
  <p:sldSz cx="24384000" cy="13716000"/>
  <p:notesSz cx="6858000" cy="9144000"/>
  <p:embeddedFontLst>
    <p:embeddedFont>
      <p:font typeface="NanumSquareRoundOTF Bold"/>
      <p:bold xmlns:r="http://schemas.openxmlformats.org/officeDocument/2006/relationships" r:id="Rd87f8d3170e54796"/>
    </p:embeddedFont>
    <p:embeddedFont>
      <p:font typeface="Pretendard Black"/>
      <p:bold xmlns:r="http://schemas.openxmlformats.org/officeDocument/2006/relationships" r:id="Rd53e25fbb6cf4dc4"/>
    </p:embeddedFont>
    <p:embeddedFont>
      <p:font typeface="Pretendard Regular"/>
      <p:regular xmlns:r="http://schemas.openxmlformats.org/officeDocument/2006/relationships" r:id="Rea43f308e9134c6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8a929e6e7f4fe7" /><Relationship Type="http://schemas.openxmlformats.org/officeDocument/2006/relationships/slideMaster" Target="/ppt/slideMasters/slideMaster1.xml" Id="Rc9cb795bac77430f" /><Relationship Type="http://schemas.openxmlformats.org/officeDocument/2006/relationships/notesMaster" Target="/ppt/notesMasters/notesMaster1.xml" Id="R144b70afb5bf4706" /><Relationship Type="http://schemas.openxmlformats.org/officeDocument/2006/relationships/presProps" Target="/ppt/presProps.xml" Id="R9d7115694f744776" /><Relationship Type="http://schemas.openxmlformats.org/officeDocument/2006/relationships/viewProps" Target="/ppt/viewProps.xml" Id="R01577ccf2a9c4e8d" /><Relationship Type="http://schemas.openxmlformats.org/officeDocument/2006/relationships/tableStyles" Target="/ppt/tableStyles.xml" Id="Rf1ee03f17e4a4f6e" /><Relationship Type="http://schemas.openxmlformats.org/officeDocument/2006/relationships/font" Target="/ppt/fonts/font.dat" Id="Rd87f8d3170e54796" /><Relationship Type="http://schemas.openxmlformats.org/officeDocument/2006/relationships/font" Target="/ppt/fonts/font2.dat" Id="Rd53e25fbb6cf4dc4" /><Relationship Type="http://schemas.openxmlformats.org/officeDocument/2006/relationships/font" Target="/ppt/fonts/font3.dat" Id="Rea43f308e9134c65" /><Relationship Type="http://schemas.openxmlformats.org/officeDocument/2006/relationships/slide" Target="/ppt/slides/slide1.xml" Id="Raea46a3e71eb4042" /><Relationship Type="http://schemas.openxmlformats.org/officeDocument/2006/relationships/slide" Target="/ppt/slides/slide2.xml" Id="R6aab7c8527894876" /><Relationship Type="http://schemas.openxmlformats.org/officeDocument/2006/relationships/slide" Target="/ppt/slides/slide3.xml" Id="R2719aa82c3f44602" /><Relationship Type="http://schemas.openxmlformats.org/officeDocument/2006/relationships/slide" Target="/ppt/slides/slide4.xml" Id="R531ecfcd0c004eed" /><Relationship Type="http://schemas.openxmlformats.org/officeDocument/2006/relationships/slide" Target="/ppt/slides/slide5.xml" Id="Rbb03176d82304585" /><Relationship Type="http://schemas.openxmlformats.org/officeDocument/2006/relationships/slide" Target="/ppt/slides/slide6.xml" Id="Rd8bb412ca79c4987" /><Relationship Type="http://schemas.openxmlformats.org/officeDocument/2006/relationships/slide" Target="/ppt/slides/slide7.xml" Id="R5f193bf198464ca4" /><Relationship Type="http://schemas.openxmlformats.org/officeDocument/2006/relationships/slide" Target="/ppt/slides/slide8.xml" Id="Rc1cf11186f1343c3" /><Relationship Type="http://schemas.openxmlformats.org/officeDocument/2006/relationships/slide" Target="/ppt/slides/slide9.xml" Id="R56adc8f79aaf47a6" /><Relationship Type="http://schemas.openxmlformats.org/officeDocument/2006/relationships/slide" Target="/ppt/slides/slide10.xml" Id="R084c3f855d51459a" /><Relationship Type="http://schemas.openxmlformats.org/officeDocument/2006/relationships/slide" Target="/ppt/slides/slide11.xml" Id="R8f17cd1c0d8648c2" /><Relationship Type="http://schemas.openxmlformats.org/officeDocument/2006/relationships/slide" Target="/ppt/slides/slide12.xml" Id="Rc2fcd1d303c24051" /><Relationship Type="http://schemas.openxmlformats.org/officeDocument/2006/relationships/slide" Target="/ppt/slides/slide13.xml" Id="R27606f222bdd495c" /><Relationship Type="http://schemas.openxmlformats.org/officeDocument/2006/relationships/slide" Target="/ppt/slides/slide14.xml" Id="Rc2417bd59e044a78" /><Relationship Type="http://schemas.openxmlformats.org/officeDocument/2006/relationships/slide" Target="/ppt/slides/slide15.xml" Id="Rd96037832f954337" /><Relationship Type="http://schemas.openxmlformats.org/officeDocument/2006/relationships/slide" Target="/ppt/slides/slide16.xml" Id="R3f2fc39baad34b28" /><Relationship Type="http://schemas.openxmlformats.org/officeDocument/2006/relationships/slide" Target="/ppt/slides/slide17.xml" Id="R4caa9ae0b15b47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3b0c095bf941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e15efacc7e42f2" /><Relationship Type="http://schemas.openxmlformats.org/officeDocument/2006/relationships/notesMaster" Target="/ppt/notesMasters/notesMaster1.xml" Id="R2ab8d4e15d144d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91592624024718" /><Relationship Type="http://schemas.openxmlformats.org/officeDocument/2006/relationships/notesMaster" Target="/ppt/notesMasters/notesMaster1.xml" Id="Ra7abd2d027954f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d41878a73a49a9" /><Relationship Type="http://schemas.openxmlformats.org/officeDocument/2006/relationships/notesMaster" Target="/ppt/notesMasters/notesMaster1.xml" Id="R4dc9f9131e2347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6c61e098cf4719" /><Relationship Type="http://schemas.openxmlformats.org/officeDocument/2006/relationships/notesMaster" Target="/ppt/notesMasters/notesMaster1.xml" Id="R8c80e73951bd42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be8bd02f2e4e4e" /><Relationship Type="http://schemas.openxmlformats.org/officeDocument/2006/relationships/notesMaster" Target="/ppt/notesMasters/notesMaster1.xml" Id="R3cecc20823c648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f0f3322bf0405c" /><Relationship Type="http://schemas.openxmlformats.org/officeDocument/2006/relationships/notesMaster" Target="/ppt/notesMasters/notesMaster1.xml" Id="Rbd46dcf346bd49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c3cfa04b094788" /><Relationship Type="http://schemas.openxmlformats.org/officeDocument/2006/relationships/notesMaster" Target="/ppt/notesMasters/notesMaster1.xml" Id="Raa1e42c6b64a49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eea34d520140e1" /><Relationship Type="http://schemas.openxmlformats.org/officeDocument/2006/relationships/notesMaster" Target="/ppt/notesMasters/notesMaster1.xml" Id="Rd16fb795090e48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9cf8cdbb60438e" /><Relationship Type="http://schemas.openxmlformats.org/officeDocument/2006/relationships/notesMaster" Target="/ppt/notesMasters/notesMaster1.xml" Id="R48335af88b5b45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48b46040db4714" /><Relationship Type="http://schemas.openxmlformats.org/officeDocument/2006/relationships/notesMaster" Target="/ppt/notesMasters/notesMaster1.xml" Id="R5b62dc39183441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176fd0566b410b" /><Relationship Type="http://schemas.openxmlformats.org/officeDocument/2006/relationships/notesMaster" Target="/ppt/notesMasters/notesMaster1.xml" Id="R4fed9730b1184a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d6bba193424114" /><Relationship Type="http://schemas.openxmlformats.org/officeDocument/2006/relationships/notesMaster" Target="/ppt/notesMasters/notesMaster1.xml" Id="Rdf737a6853db48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69b917dbc14d30" /><Relationship Type="http://schemas.openxmlformats.org/officeDocument/2006/relationships/notesMaster" Target="/ppt/notesMasters/notesMaster1.xml" Id="R7180b3b8715c4f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423fb0ddfc4639" /><Relationship Type="http://schemas.openxmlformats.org/officeDocument/2006/relationships/notesMaster" Target="/ppt/notesMasters/notesMaster1.xml" Id="R796fcc9e055242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fed0c9bf0a44c2" /><Relationship Type="http://schemas.openxmlformats.org/officeDocument/2006/relationships/notesMaster" Target="/ppt/notesMasters/notesMaster1.xml" Id="R8ff4036b9c644d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4ab9d4f0424de9" /><Relationship Type="http://schemas.openxmlformats.org/officeDocument/2006/relationships/notesMaster" Target="/ppt/notesMasters/notesMaster1.xml" Id="Rab24fa1b0ee343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81d1452ca84765" /><Relationship Type="http://schemas.openxmlformats.org/officeDocument/2006/relationships/notesMaster" Target="/ppt/notesMasters/notesMaster1.xml" Id="R42b6a66688cb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국립중앙박물관, 「국립중앙박물관, 2025년 연간 관람객 650만 명 돌파」, 2026-01-02. 사용자 제공 스크린샷.</a:t>
            </a:r>
          </a:p>
          <a:p xmlns:a="http://schemas.openxmlformats.org/drawingml/2006/main">
            <a:r>
              <a:t>- 국립중앙박물관, 「한 시간 더, 국중박 타임」 국립중앙박물관 여름방학 맞이 관람시간 1시간 한시적 연장, 2026-07-15. 사용자 제공 스크린샷.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21587b3924e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09228d91148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21b9d877247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77d3382864d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1bd1539cc4c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6af8cc93f4d5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a604c6b2b4a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b984336b747d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29f0187c549e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f410e9fdc444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322261e7746e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C41D58-D933-4589-BF83-2FB07060F6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A64861D-8E28-40E2-BAD6-A91FAD6DC2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1D1410-9CE5-4D43-AF62-4BD653A698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CCED1-8F4F-419D-98D9-1D9A56A8BF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26F42E-035D-4B2E-BEE7-750D11AD94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4078BC-DEF1-49E3-8B76-4D838433FC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36F4F6-2389-4E76-AD47-35D5862ED8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ABD2FD-7055-4E02-B8CE-7BDE036C06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A4615A-2153-4EAD-9E44-424E4A4410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F20B28-D4EA-4EBF-8F85-4EEAC4162C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4CB2D0-37B6-4C65-BE46-DDBEF75E8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C6C45F-07C9-4CCD-BF7E-C130D0A544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08C0718-0FFF-44B1-96F6-E57C080985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C8372C-810A-4074-87DA-EF8CEDA6E2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DC8FF0-C37A-4696-82E3-C167EEF8C5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A9E0C6-D678-450C-ADED-993137C12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E21A6F-3571-4F0F-9371-72DFC4B314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B534957-C1AA-43D4-A955-B0417811B5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D4E612-0502-45D3-B2A2-FFAF30612B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832F69-DDB5-49CA-940F-3CDD6C7BFC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055BDA8-6663-4DE9-9BA8-7F2FFCF86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7F5B56-E057-46B8-BA48-0D836A3C1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4BD0AB-2D44-48BA-A9E7-B9FAF927F3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364F640-9F60-4FE2-B896-FF939AFC51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DEE6263-3E0C-4149-A47F-2AC567718F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C124BAF-974D-41E9-8C77-DC5D4A6CD9C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A7E3E6F-0FD8-4AD5-B788-CD01EE71C0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2896A2A-E650-4E8E-8685-E68A131A6F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0319BBB-25AF-4F39-B0CF-5D61BAF5E1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08AC2D-5C8F-4BF1-A234-516C37E9A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52994A7-3F1C-4CCB-B8D4-55DFEF1E15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0469400-96C3-4C41-87D3-89BE9FA002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AFBFEBB-A97F-4D2B-B2BB-B02CDDDC74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DD09C5B-01AE-4676-B5FB-7AD1FADD4E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B9BB055-8E60-4C27-9417-2D63558AE6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D85991B-097B-4A8A-AB22-6800C06F25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516EB7-1C89-4533-8E7C-7E3B1BD6B5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2095795-CF9C-4D4A-8367-A4FA007B9A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ADFF1F-0AB5-4C47-8CA6-7B539614F1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C8A2F70-6DBA-460D-BCB6-8716859081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441F346-3882-4596-9C3D-8DEE1BC30E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C8275FE-E13F-4027-9F04-33E5ACCFA9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1E2F1F-AE3D-4271-B566-8397BC1D9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1082C6C-9859-40E8-84FC-96BCE9DA6D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706E900-45F9-4081-94D8-1DA6A157DA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A3217A9-AE3B-4270-A4FE-D945878CBF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748FF1E-F473-4A83-9B07-020C961A10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DD8EC30-679E-48E7-B5C0-904626A08B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F6B3E0-E9EE-4876-9D1D-AC0F2C853D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D725FD-CAF7-4CDA-A26A-316E150116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B9A307-125C-4CE2-9479-FF3BBDE995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8A35E0-D287-49C6-AA61-5AC0F54239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793914-E1F5-4647-8B19-42C5038E15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496269A-20DE-4544-8352-8BBCFD8176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8C8758-540B-4415-BFF3-9053171F23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1207B1-266D-4935-98FF-E756DD971F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AAA739-2DEE-46E1-ABEF-DA6D586D4D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8183E3-415A-4B11-A4A4-AFCE5B4CE1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3dc9487d5f4ab4" /><Relationship Type="http://schemas.openxmlformats.org/officeDocument/2006/relationships/slideLayout" Target="/ppt/slideLayouts/slideLayout1.xml" Id="Re9e5500239594b9a" /><Relationship Type="http://schemas.openxmlformats.org/officeDocument/2006/relationships/slideLayout" Target="/ppt/slideLayouts/slideLayout2.xml" Id="R93cb8388f4354698" /><Relationship Type="http://schemas.openxmlformats.org/officeDocument/2006/relationships/slideLayout" Target="/ppt/slideLayouts/slideLayout3.xml" Id="R30716bb86855422d" /><Relationship Type="http://schemas.openxmlformats.org/officeDocument/2006/relationships/slideLayout" Target="/ppt/slideLayouts/slideLayout4.xml" Id="R80dbd3144bfa4fe1" /><Relationship Type="http://schemas.openxmlformats.org/officeDocument/2006/relationships/slideLayout" Target="/ppt/slideLayouts/slideLayout5.xml" Id="Rb7821a3ac51b43b8" /><Relationship Type="http://schemas.openxmlformats.org/officeDocument/2006/relationships/slideLayout" Target="/ppt/slideLayouts/slideLayout6.xml" Id="R50ca824a56484cc5" /><Relationship Type="http://schemas.openxmlformats.org/officeDocument/2006/relationships/slideLayout" Target="/ppt/slideLayouts/slideLayout7.xml" Id="R32b6dfb261014615" /><Relationship Type="http://schemas.openxmlformats.org/officeDocument/2006/relationships/slideLayout" Target="/ppt/slideLayouts/slideLayout8.xml" Id="R4bcb3b07ad0244d8" /><Relationship Type="http://schemas.openxmlformats.org/officeDocument/2006/relationships/slideLayout" Target="/ppt/slideLayouts/slideLayout9.xml" Id="R64802db5262543e9" /><Relationship Type="http://schemas.openxmlformats.org/officeDocument/2006/relationships/slideLayout" Target="/ppt/slideLayouts/slideLayout10.xml" Id="Rb7e865921c644d13" /><Relationship Type="http://schemas.openxmlformats.org/officeDocument/2006/relationships/slideLayout" Target="/ppt/slideLayouts/slideLayout11.xml" Id="Rcceadca3b84d42d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9594522-8D66-4272-A85B-2C3BAAEAE1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4793E2-9601-49B1-B47A-4DEF6A88D5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EC7912-D040-47F6-A45C-25C4F7D949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AF16A2-9F17-46F1-A14A-BD5DA4D2D15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14E592-257C-4BFF-9D0B-48EB064C6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e5500239594b9a"/>
    <p:sldLayoutId xmlns:r="http://schemas.openxmlformats.org/officeDocument/2006/relationships" id="2147483650" r:id="R93cb8388f4354698"/>
    <p:sldLayoutId xmlns:r="http://schemas.openxmlformats.org/officeDocument/2006/relationships" id="2147483651" r:id="R30716bb86855422d"/>
    <p:sldLayoutId xmlns:r="http://schemas.openxmlformats.org/officeDocument/2006/relationships" id="2147483652" r:id="R80dbd3144bfa4fe1"/>
    <p:sldLayoutId xmlns:r="http://schemas.openxmlformats.org/officeDocument/2006/relationships" id="2147483653" r:id="Rb7821a3ac51b43b8"/>
    <p:sldLayoutId xmlns:r="http://schemas.openxmlformats.org/officeDocument/2006/relationships" id="2147483654" r:id="R50ca824a56484cc5"/>
    <p:sldLayoutId xmlns:r="http://schemas.openxmlformats.org/officeDocument/2006/relationships" id="2147483655" r:id="R32b6dfb261014615"/>
    <p:sldLayoutId xmlns:r="http://schemas.openxmlformats.org/officeDocument/2006/relationships" id="2147483656" r:id="R4bcb3b07ad0244d8"/>
    <p:sldLayoutId xmlns:r="http://schemas.openxmlformats.org/officeDocument/2006/relationships" id="2147483657" r:id="R64802db5262543e9"/>
    <p:sldLayoutId xmlns:r="http://schemas.openxmlformats.org/officeDocument/2006/relationships" id="2147483658" r:id="Rb7e865921c644d13"/>
    <p:sldLayoutId xmlns:r="http://schemas.openxmlformats.org/officeDocument/2006/relationships" id="2147483659" r:id="Rcceadca3b84d42da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3fc08f36f74e67" /><Relationship Type="http://schemas.openxmlformats.org/officeDocument/2006/relationships/image" Target="/ppt/media/image.png" Id="R69b48baef0924fbf" /><Relationship Type="http://schemas.openxmlformats.org/officeDocument/2006/relationships/image" Target="/ppt/media/image2.png" Id="R912af0a708c44ccc" /><Relationship Type="http://schemas.openxmlformats.org/officeDocument/2006/relationships/image" Target="/ppt/media/image3.png" Id="Rce541a27a7654454" /><Relationship Type="http://schemas.openxmlformats.org/officeDocument/2006/relationships/image" Target="/ppt/media/image4.png" Id="Rfc2f89bc3f5a466d" /><Relationship Type="http://schemas.openxmlformats.org/officeDocument/2006/relationships/image" Target="/ppt/media/image5.png" Id="Rb82596713ebe4a5e" /><Relationship Type="http://schemas.openxmlformats.org/officeDocument/2006/relationships/image" Target="/ppt/media/image6.png" Id="Re339403d8983495b" /><Relationship Type="http://schemas.openxmlformats.org/officeDocument/2006/relationships/image" Target="/ppt/media/image7.png" Id="Rda48c2fd74794879" /><Relationship Type="http://schemas.openxmlformats.org/officeDocument/2006/relationships/image" Target="/ppt/media/image8.png" Id="R826e78a9dec1498f" /><Relationship Type="http://schemas.openxmlformats.org/officeDocument/2006/relationships/notesSlide" Target="/ppt/notesSlides/notesSlide1.xml" Id="R6be271a6a7954f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8ab56dab9846ba" /><Relationship Type="http://schemas.openxmlformats.org/officeDocument/2006/relationships/image" Target="/ppt/media/image9.png" Id="R92d9b389c9d8470e" /><Relationship Type="http://schemas.openxmlformats.org/officeDocument/2006/relationships/image" Target="/ppt/media/image10.png" Id="R0f4010f9e8934d3a" /><Relationship Type="http://schemas.openxmlformats.org/officeDocument/2006/relationships/image" Target="/ppt/media/image11.png" Id="R1fc1a3bbf392406f" /><Relationship Type="http://schemas.openxmlformats.org/officeDocument/2006/relationships/image" Target="/ppt/media/image12.png" Id="Rc0a7737fc461484f" /><Relationship Type="http://schemas.openxmlformats.org/officeDocument/2006/relationships/image" Target="/ppt/media/image5.png" Id="R4d6ea79286f544b5" /><Relationship Type="http://schemas.openxmlformats.org/officeDocument/2006/relationships/image" Target="/ppt/media/image13.png" Id="Re80a4f58de0544cc" /><Relationship Type="http://schemas.openxmlformats.org/officeDocument/2006/relationships/image" Target="/ppt/media/image14.png" Id="Rd29c5c8a947c405e" /><Relationship Type="http://schemas.openxmlformats.org/officeDocument/2006/relationships/image" Target="/ppt/media/image15.png" Id="R2fbc1d48c30b4b74" /><Relationship Type="http://schemas.openxmlformats.org/officeDocument/2006/relationships/image" Target="/ppt/media/image16.png" Id="Rcec4aaab0f1c47ad" /><Relationship Type="http://schemas.openxmlformats.org/officeDocument/2006/relationships/notesSlide" Target="/ppt/notesSlides/notesSlide2.xml" Id="Rb4ff0e3419cd4b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933f8711394fd1" /><Relationship Type="http://schemas.openxmlformats.org/officeDocument/2006/relationships/image" Target="/ppt/media/image17.png" Id="Red8228f16e3f4a31" /><Relationship Type="http://schemas.openxmlformats.org/officeDocument/2006/relationships/image" Target="/ppt/media/image18.png" Id="Re9a1599c3f694d48" /><Relationship Type="http://schemas.openxmlformats.org/officeDocument/2006/relationships/image" Target="/ppt/media/image19.png" Id="Rc328247954144803" /><Relationship Type="http://schemas.openxmlformats.org/officeDocument/2006/relationships/image" Target="/ppt/media/image12.png" Id="Rdf3f9be0ca3f48ba" /><Relationship Type="http://schemas.openxmlformats.org/officeDocument/2006/relationships/image" Target="/ppt/media/image5.png" Id="R19ae3acc40434af0" /><Relationship Type="http://schemas.openxmlformats.org/officeDocument/2006/relationships/image" Target="/ppt/media/image20.png" Id="Rb3e3a791d3404861" /><Relationship Type="http://schemas.openxmlformats.org/officeDocument/2006/relationships/image" Target="/ppt/media/image21.png" Id="R4de43d9794174e1a" /><Relationship Type="http://schemas.openxmlformats.org/officeDocument/2006/relationships/image" Target="/ppt/media/image22.png" Id="Rc907ef567e2044d9" /><Relationship Type="http://schemas.openxmlformats.org/officeDocument/2006/relationships/image" Target="/ppt/media/image23.png" Id="R4ee7e4ce829543ef" /><Relationship Type="http://schemas.openxmlformats.org/officeDocument/2006/relationships/image" Target="/ppt/media/image24.png" Id="R6d5de2fd449c4d5f" /><Relationship Type="http://schemas.openxmlformats.org/officeDocument/2006/relationships/notesSlide" Target="/ppt/notesSlides/notesSlide3.xml" Id="R455a010a373b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98d99175544a9b" /><Relationship Type="http://schemas.openxmlformats.org/officeDocument/2006/relationships/notesSlide" Target="/ppt/notesSlides/notesSlide4.xml" Id="R643af28ec8f349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e905656fbf4ea3" /><Relationship Type="http://schemas.openxmlformats.org/officeDocument/2006/relationships/image" Target="/ppt/media/image25.png" Id="R80f8caba36d743b1" /><Relationship Type="http://schemas.openxmlformats.org/officeDocument/2006/relationships/image" Target="/ppt/media/image26.png" Id="Rcbee57349abc4364" /><Relationship Type="http://schemas.openxmlformats.org/officeDocument/2006/relationships/image" Target="/ppt/media/image5.png" Id="Rd67818d09d6244b1" /><Relationship Type="http://schemas.openxmlformats.org/officeDocument/2006/relationships/image" Target="/ppt/media/image27.png" Id="R84546d522dbc4c1f" /><Relationship Type="http://schemas.openxmlformats.org/officeDocument/2006/relationships/image" Target="/ppt/media/image28.png" Id="R11df6bda10e54ec4" /><Relationship Type="http://schemas.openxmlformats.org/officeDocument/2006/relationships/image" Target="/ppt/media/image29.png" Id="R115050eb58944e5b" /><Relationship Type="http://schemas.openxmlformats.org/officeDocument/2006/relationships/image" Target="/ppt/media/image30.png" Id="R564272264c764de5" /><Relationship Type="http://schemas.openxmlformats.org/officeDocument/2006/relationships/image" Target="/ppt/media/image31.png" Id="R58916a93b9344bb9" /><Relationship Type="http://schemas.openxmlformats.org/officeDocument/2006/relationships/image" Target="/ppt/media/image32.png" Id="R2b72c95925ce425c" /><Relationship Type="http://schemas.openxmlformats.org/officeDocument/2006/relationships/image" Target="/ppt/media/image33.png" Id="R51dabb91f6e748a9" /><Relationship Type="http://schemas.openxmlformats.org/officeDocument/2006/relationships/notesSlide" Target="/ppt/notesSlides/notesSlide5.xml" Id="R760def39cf364a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0e267293c648c6" /><Relationship Type="http://schemas.openxmlformats.org/officeDocument/2006/relationships/image" Target="/ppt/media/image34.png" Id="Rac0b63c5780e453a" /><Relationship Type="http://schemas.openxmlformats.org/officeDocument/2006/relationships/image" Target="/ppt/media/image35.png" Id="Rba3aaa783ffd42b2" /><Relationship Type="http://schemas.openxmlformats.org/officeDocument/2006/relationships/image" Target="/ppt/media/image36.png" Id="R2c27da0adc0a4b2a" /><Relationship Type="http://schemas.openxmlformats.org/officeDocument/2006/relationships/image" Target="/ppt/media/image37.png" Id="R6717cc53c7254fbd" /><Relationship Type="http://schemas.openxmlformats.org/officeDocument/2006/relationships/image" Target="/ppt/media/image38.png" Id="Rbb26b4247c3042b7" /><Relationship Type="http://schemas.openxmlformats.org/officeDocument/2006/relationships/image" Target="/ppt/media/image39.png" Id="R3ad2d5f3d66f4168" /><Relationship Type="http://schemas.openxmlformats.org/officeDocument/2006/relationships/image" Target="/ppt/media/image40.png" Id="R4ba8d20ca24e4d0f" /><Relationship Type="http://schemas.openxmlformats.org/officeDocument/2006/relationships/image" Target="/ppt/media/image41.png" Id="Rc44749c8bbb34e1f" /><Relationship Type="http://schemas.openxmlformats.org/officeDocument/2006/relationships/image" Target="/ppt/media/image42.png" Id="R921dc59767bf4364" /><Relationship Type="http://schemas.openxmlformats.org/officeDocument/2006/relationships/image" Target="/ppt/media/image43.png" Id="Redbac012a33440af" /><Relationship Type="http://schemas.openxmlformats.org/officeDocument/2006/relationships/image" Target="/ppt/media/image44.png" Id="Rdb4ea3c2df614d0d" /><Relationship Type="http://schemas.openxmlformats.org/officeDocument/2006/relationships/image" Target="/ppt/media/image45.png" Id="R0e0ea016542c4d49" /><Relationship Type="http://schemas.openxmlformats.org/officeDocument/2006/relationships/image" Target="/ppt/media/image46.png" Id="R60c3bd04dd8d41c4" /><Relationship Type="http://schemas.openxmlformats.org/officeDocument/2006/relationships/image" Target="/ppt/media/image47.png" Id="R3c67453348644415" /><Relationship Type="http://schemas.openxmlformats.org/officeDocument/2006/relationships/image" Target="/ppt/media/image48.png" Id="R773bb8ae06fd48e7" /><Relationship Type="http://schemas.openxmlformats.org/officeDocument/2006/relationships/notesSlide" Target="/ppt/notesSlides/notesSlide6.xml" Id="R4fe5bd5a04f141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3349e3ebde4f94" /><Relationship Type="http://schemas.openxmlformats.org/officeDocument/2006/relationships/image" Target="/ppt/media/image49.png" Id="Rf5cb500fccd14d58" /><Relationship Type="http://schemas.openxmlformats.org/officeDocument/2006/relationships/image" Target="/ppt/media/image50.png" Id="R958e0e1a2d634e3a" /><Relationship Type="http://schemas.openxmlformats.org/officeDocument/2006/relationships/image" Target="/ppt/media/image5.png" Id="R31077227e4e54e3b" /><Relationship Type="http://schemas.openxmlformats.org/officeDocument/2006/relationships/image" Target="/ppt/media/image51.png" Id="R14b12c45693d49c1" /><Relationship Type="http://schemas.openxmlformats.org/officeDocument/2006/relationships/image" Target="/ppt/media/image52.png" Id="R9b496b5e96c74be6" /><Relationship Type="http://schemas.openxmlformats.org/officeDocument/2006/relationships/image" Target="/ppt/media/image53.png" Id="R522ca13029f04917" /><Relationship Type="http://schemas.openxmlformats.org/officeDocument/2006/relationships/image" Target="/ppt/media/image54.png" Id="R94c78d757c754742" /><Relationship Type="http://schemas.openxmlformats.org/officeDocument/2006/relationships/image" Target="/ppt/media/image55.png" Id="R5b21917edfd64970" /><Relationship Type="http://schemas.openxmlformats.org/officeDocument/2006/relationships/image" Target="/ppt/media/image56.png" Id="Rd190e610694348d1" /><Relationship Type="http://schemas.openxmlformats.org/officeDocument/2006/relationships/notesSlide" Target="/ppt/notesSlides/notesSlide7.xml" Id="Rbfbaa07c911c47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d0ab594c1a4e05" /><Relationship Type="http://schemas.openxmlformats.org/officeDocument/2006/relationships/image" Target="/ppt/media/image57.png" Id="Rc36f888d25424f8f" /><Relationship Type="http://schemas.openxmlformats.org/officeDocument/2006/relationships/image" Target="/ppt/media/image58.png" Id="R3acacbaaf24c4305" /><Relationship Type="http://schemas.openxmlformats.org/officeDocument/2006/relationships/image" Target="/ppt/media/image5.png" Id="Rabc0bbf9c0fa4aac" /><Relationship Type="http://schemas.openxmlformats.org/officeDocument/2006/relationships/image" Target="/ppt/media/image59.png" Id="R6ea93db8b0da40e4" /><Relationship Type="http://schemas.openxmlformats.org/officeDocument/2006/relationships/image" Target="/ppt/media/image60.png" Id="Rfae9192306a04be8" /><Relationship Type="http://schemas.openxmlformats.org/officeDocument/2006/relationships/image" Target="/ppt/media/image61.png" Id="R767388a479664c6a" /><Relationship Type="http://schemas.openxmlformats.org/officeDocument/2006/relationships/image" Target="/ppt/media/image62.png" Id="R0ee883616b6d45e0" /><Relationship Type="http://schemas.openxmlformats.org/officeDocument/2006/relationships/notesSlide" Target="/ppt/notesSlides/notesSlide8.xml" Id="Ra003105104b149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a0692c88f04184" /><Relationship Type="http://schemas.openxmlformats.org/officeDocument/2006/relationships/image" Target="/ppt/media/image63.png" Id="R46a39a60548a4618" /><Relationship Type="http://schemas.openxmlformats.org/officeDocument/2006/relationships/image" Target="/ppt/media/image64.png" Id="Rc05f3da4f61c49ab" /><Relationship Type="http://schemas.openxmlformats.org/officeDocument/2006/relationships/image" Target="/ppt/media/image5.png" Id="R70190547ff104a55" /><Relationship Type="http://schemas.openxmlformats.org/officeDocument/2006/relationships/image" Target="/ppt/media/image65.png" Id="R434479e49afe4ee6" /><Relationship Type="http://schemas.openxmlformats.org/officeDocument/2006/relationships/image" Target="/ppt/media/image66.png" Id="R91f03b4121ab4856" /><Relationship Type="http://schemas.openxmlformats.org/officeDocument/2006/relationships/image" Target="/ppt/media/image29.png" Id="R6165d594e11a4047" /><Relationship Type="http://schemas.openxmlformats.org/officeDocument/2006/relationships/image" Target="/ppt/media/image30.png" Id="R42388f5e6a10410c" /><Relationship Type="http://schemas.openxmlformats.org/officeDocument/2006/relationships/image" Target="/ppt/media/image31.png" Id="R4f2cc13bf72f495c" /><Relationship Type="http://schemas.openxmlformats.org/officeDocument/2006/relationships/image" Target="/ppt/media/image67.png" Id="R080d3820391940bc" /><Relationship Type="http://schemas.openxmlformats.org/officeDocument/2006/relationships/image" Target="/ppt/media/image68.png" Id="Ra27c3bf5c8d64ea8" /><Relationship Type="http://schemas.openxmlformats.org/officeDocument/2006/relationships/image" Target="/ppt/media/image33.png" Id="R4b334886ad7a4107" /><Relationship Type="http://schemas.openxmlformats.org/officeDocument/2006/relationships/notesSlide" Target="/ppt/notesSlides/notesSlide9.xml" Id="Rdda6e6f6d07442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6e02ea84d04d67" /><Relationship Type="http://schemas.openxmlformats.org/officeDocument/2006/relationships/image" Target="/ppt/media/image69.png" Id="R3f99626c09624ad0" /><Relationship Type="http://schemas.openxmlformats.org/officeDocument/2006/relationships/image" Target="/ppt/media/image70.png" Id="Ree3dad51fd2644f2" /><Relationship Type="http://schemas.openxmlformats.org/officeDocument/2006/relationships/image" Target="/ppt/media/image71.png" Id="R052f8ca934c64d10" /><Relationship Type="http://schemas.openxmlformats.org/officeDocument/2006/relationships/image" Target="/ppt/media/image72.png" Id="R1ddaf799bbbf44ae" /><Relationship Type="http://schemas.openxmlformats.org/officeDocument/2006/relationships/image" Target="/ppt/media/image5.png" Id="R694587a3867f404c" /><Relationship Type="http://schemas.openxmlformats.org/officeDocument/2006/relationships/image" Target="/ppt/media/image73.png" Id="Ra2bcfaeaa5cd4667" /><Relationship Type="http://schemas.openxmlformats.org/officeDocument/2006/relationships/image" Target="/ppt/media/image74.png" Id="Rd52fa734fca64e0a" /><Relationship Type="http://schemas.openxmlformats.org/officeDocument/2006/relationships/image" Target="/ppt/media/image75.png" Id="Rd6d75550b6ea4159" /><Relationship Type="http://schemas.openxmlformats.org/officeDocument/2006/relationships/image" Target="/ppt/media/image76.png" Id="Ree6d28dcf3b8491d" /><Relationship Type="http://schemas.openxmlformats.org/officeDocument/2006/relationships/image" Target="/ppt/media/image77.png" Id="Rd567cb57749e49e3" /><Relationship Type="http://schemas.openxmlformats.org/officeDocument/2006/relationships/image" Target="/ppt/media/image78.png" Id="R95a001dd06a64c5e" /><Relationship Type="http://schemas.openxmlformats.org/officeDocument/2006/relationships/image" Target="/ppt/media/image79.png" Id="R21f995d7cea645b9" /><Relationship Type="http://schemas.openxmlformats.org/officeDocument/2006/relationships/notesSlide" Target="/ppt/notesSlides/notesSlide10.xml" Id="Re0045d4120364d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1790c9dda04281" /><Relationship Type="http://schemas.openxmlformats.org/officeDocument/2006/relationships/notesSlide" Target="/ppt/notesSlides/notesSlide11.xml" Id="R7a758ee90d7741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06dd9fb2b142df" /><Relationship Type="http://schemas.openxmlformats.org/officeDocument/2006/relationships/notesSlide" Target="/ppt/notesSlides/notesSlide12.xml" Id="R929c318efad642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52df1e62494723" /><Relationship Type="http://schemas.openxmlformats.org/officeDocument/2006/relationships/notesSlide" Target="/ppt/notesSlides/notesSlide13.xml" Id="R6e1f536810594e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94a0e2415f46f2" /><Relationship Type="http://schemas.openxmlformats.org/officeDocument/2006/relationships/notesSlide" Target="/ppt/notesSlides/notesSlide14.xml" Id="R6ebb688e55904a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87ea59709646f7" /><Relationship Type="http://schemas.openxmlformats.org/officeDocument/2006/relationships/image" Target="/ppt/media/image80.png" Id="R1d4aceed7cf5493a" /><Relationship Type="http://schemas.openxmlformats.org/officeDocument/2006/relationships/image" Target="/ppt/media/image81.png" Id="Rb1c4bf9f96494eb1" /><Relationship Type="http://schemas.openxmlformats.org/officeDocument/2006/relationships/image" Target="/ppt/media/image5.png" Id="R3cf8e120fece402b" /><Relationship Type="http://schemas.openxmlformats.org/officeDocument/2006/relationships/image" Target="/ppt/media/image82.png" Id="R4d43e3a93b23414f" /><Relationship Type="http://schemas.openxmlformats.org/officeDocument/2006/relationships/image" Target="/ppt/media/image83.png" Id="R42b5cd992bd448d1" /><Relationship Type="http://schemas.openxmlformats.org/officeDocument/2006/relationships/image" Target="/ppt/media/image84.png" Id="Rd6f7c70daee44211" /><Relationship Type="http://schemas.openxmlformats.org/officeDocument/2006/relationships/image" Target="/ppt/media/image85.png" Id="R9bda3c317cee4502" /><Relationship Type="http://schemas.openxmlformats.org/officeDocument/2006/relationships/image" Target="/ppt/media/image86.png" Id="R12ae3e9f7e174104" /><Relationship Type="http://schemas.openxmlformats.org/officeDocument/2006/relationships/image" Target="/ppt/media/image31.png" Id="R084ea0c7c8d546a7" /><Relationship Type="http://schemas.openxmlformats.org/officeDocument/2006/relationships/image" Target="/ppt/media/image87.png" Id="Rf05791e733f3492c" /><Relationship Type="http://schemas.openxmlformats.org/officeDocument/2006/relationships/image" Target="/ppt/media/image33.png" Id="R77f328ec917e4d70" /><Relationship Type="http://schemas.openxmlformats.org/officeDocument/2006/relationships/notesSlide" Target="/ppt/notesSlides/notesSlide15.xml" Id="R3a563ceda53a49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ded60c17144d9a" /><Relationship Type="http://schemas.openxmlformats.org/officeDocument/2006/relationships/image" Target="/ppt/media/image88.png" Id="R4bad1d22dd7c4275" /><Relationship Type="http://schemas.openxmlformats.org/officeDocument/2006/relationships/image" Target="/ppt/media/image89.png" Id="R05e4bdcc7d214399" /><Relationship Type="http://schemas.openxmlformats.org/officeDocument/2006/relationships/image" Target="/ppt/media/image90.png" Id="R1b688def90344e16" /><Relationship Type="http://schemas.openxmlformats.org/officeDocument/2006/relationships/image" Target="/ppt/media/image91.png" Id="Ra1de18955b324749" /><Relationship Type="http://schemas.openxmlformats.org/officeDocument/2006/relationships/image" Target="/ppt/media/image5.png" Id="R1fa877ebfa1b4b08" /><Relationship Type="http://schemas.openxmlformats.org/officeDocument/2006/relationships/image" Target="/ppt/media/image92.png" Id="R9e0eb2b4b3474f3a" /><Relationship Type="http://schemas.openxmlformats.org/officeDocument/2006/relationships/image" Target="/ppt/media/image93.png" Id="Rd8faaf8134a94901" /><Relationship Type="http://schemas.openxmlformats.org/officeDocument/2006/relationships/notesSlide" Target="/ppt/notesSlides/notesSlide16.xml" Id="R54bd587f7cf644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fdcc4995884a71" /><Relationship Type="http://schemas.openxmlformats.org/officeDocument/2006/relationships/image" Target="/ppt/media/image94.png" Id="R914a3ddd5cc542b3" /><Relationship Type="http://schemas.openxmlformats.org/officeDocument/2006/relationships/image" Target="/ppt/media/image95.png" Id="Rf9b883e6a51543db" /><Relationship Type="http://schemas.openxmlformats.org/officeDocument/2006/relationships/image" Target="/ppt/media/image5.png" Id="R2205874e26aa4d49" /><Relationship Type="http://schemas.openxmlformats.org/officeDocument/2006/relationships/image" Target="/ppt/media/image96.png" Id="Rc235e2925a4348d3" /><Relationship Type="http://schemas.openxmlformats.org/officeDocument/2006/relationships/image" Target="/ppt/media/image97.png" Id="R138c4cd0a4034829" /><Relationship Type="http://schemas.openxmlformats.org/officeDocument/2006/relationships/image" Target="/ppt/media/image98.png" Id="Rfea70a9fe29f4f0b" /><Relationship Type="http://schemas.openxmlformats.org/officeDocument/2006/relationships/image" Target="/ppt/media/image99.png" Id="Reaa68298d0184b17" /><Relationship Type="http://schemas.openxmlformats.org/officeDocument/2006/relationships/notesSlide" Target="/ppt/notesSlides/notesSlide17.xml" Id="Rc3836ea113f84b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48baef0924fbf">
            <a:alphaModFix amt="7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9780000">
            <a:off x="-4368800" y="-2222500"/>
            <a:ext cx="9994900" cy="4965700"/>
          </a:xfrm>
          <a:prstGeom xmlns:a="http://schemas.openxmlformats.org/drawingml/2006/main" prst="rect">
            <a:avLst/>
          </a:prstGeom>
        </p:spPr>
      </p:pic>
      <p:pic>
        <p:nvPicPr>
          <p:cNvPr id="2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af0a708c44c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41a27a7654454">
            <a:alphaModFix amt="9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133600" y="5054600"/>
            <a:ext cx="14681200" cy="8674100"/>
          </a:xfrm>
          <a:prstGeom xmlns:a="http://schemas.openxmlformats.org/drawingml/2006/main" prst="rect">
            <a:avLst/>
          </a:prstGeom>
        </p:spPr>
      </p:pic>
      <p:pic>
        <p:nvPicPr>
          <p:cNvPr id="2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f89bc3f5a46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45300" y="10883900"/>
            <a:ext cx="9105900" cy="3746500"/>
          </a:xfrm>
          <a:prstGeom xmlns:a="http://schemas.openxmlformats.org/drawingml/2006/main" prst="rect">
            <a:avLst/>
          </a:prstGeom>
        </p:spPr>
      </p:pic>
      <p:pic>
        <p:nvPicPr>
          <p:cNvPr id="2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596713ebe4a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498600"/>
            <a:ext cx="21971000" cy="76200"/>
          </a:xfrm>
          <a:prstGeom xmlns:a="http://schemas.openxmlformats.org/drawingml/2006/main" prst="rect">
            <a:avLst/>
          </a:prstGeom>
        </p:spPr>
      </p:pic>
      <p:pic>
        <p:nvPicPr>
          <p:cNvPr id="2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9403d898349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60800" y="11290300"/>
            <a:ext cx="6769100" cy="1079500"/>
          </a:xfrm>
          <a:prstGeom xmlns:a="http://schemas.openxmlformats.org/drawingml/2006/main" prst="rect">
            <a:avLst/>
          </a:prstGeom>
        </p:spPr>
      </p:pic>
      <p:pic>
        <p:nvPicPr>
          <p:cNvPr id="2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8c2fd74794879">
            <a:alphaModFix amt="21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29600" y="9359900"/>
            <a:ext cx="3594100" cy="431800"/>
          </a:xfrm>
          <a:prstGeom xmlns:a="http://schemas.openxmlformats.org/drawingml/2006/main" prst="rect">
            <a:avLst/>
          </a:prstGeom>
        </p:spPr>
      </p:pic>
      <p:pic>
        <p:nvPicPr>
          <p:cNvPr id="28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e78a9dec1498f">
            <a:alphaModFix amt="21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91400" y="10033000"/>
            <a:ext cx="3594100" cy="431800"/>
          </a:xfrm>
          <a:prstGeom xmlns:a="http://schemas.openxmlformats.org/drawingml/2006/main" prst="rect">
            <a:avLst/>
          </a:prstGeom>
        </p:spPr>
      </p:pic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4FA4B01-3A5A-429E-82CB-472A8ADF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1800"/>
            <a:ext cx="22275800" cy="185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130387" anchor="b"/>
          <a:lstStyle xmlns:a="http://schemas.openxmlformats.org/drawingml/2006/main"/>
          <a:p xmlns:a="http://schemas.openxmlformats.org/drawingml/2006/main">
            <a:pPr lvl="0" algn="r">
              <a:lnSpc>
                <a:spcPct val="99600"/>
              </a:lnSpc>
              <a:buNone/>
            </a:pPr>
            <a:r>
              <a:rPr sz="10266" b="0" i="0" u="none" spc="-3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한국</a:t>
            </a:r>
            <a:r>
              <a:rPr sz="10266" b="0" i="0" u="none" spc="-3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10266" b="0" i="0" u="none" spc="-3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문화유산</a:t>
            </a:r>
            <a:r>
              <a:rPr sz="10266" b="0" i="0" u="none" spc="-3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RAG </a:t>
            </a:r>
            <a:r>
              <a:rPr sz="10266" b="0" i="0" u="none" spc="-3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기반</a:t>
            </a:r>
            <a:r>
              <a:rPr sz="10266" b="0" i="0" u="none" spc="-3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10266" b="0" i="0" u="none" spc="-3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지식</a:t>
            </a:r>
            <a:r>
              <a:rPr sz="10266" b="0" i="0" u="none" spc="-3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10266" b="0" i="0" u="none" spc="-3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안내</a:t>
            </a:r>
            <a:r>
              <a:rPr sz="10266" b="0" i="0" u="none" spc="-3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10266" b="0" i="0" u="none" spc="-3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서비스</a:t>
            </a:r>
            <a:endParaRPr sz="10266" b="0" i="0" u="none" spc="-300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75350DF-EC64-4977-B3B4-A9D81B7E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6324600"/>
            <a:ext cx="20091400" cy="88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60960" rIns="0" bIns="0" anchor="t"/>
          <a:lstStyle xmlns:a="http://schemas.openxmlformats.org/drawingml/2006/main"/>
          <a:p xmlns:a="http://schemas.openxmlformats.org/drawingml/2006/main">
            <a:pPr lvl="0" algn="r">
              <a:lnSpc>
                <a:spcPct val="99600"/>
              </a:lnSpc>
              <a:buNone/>
            </a:pPr>
            <a:r>
              <a:rPr sz="4800" b="0" i="0" u="none">
                <a:solidFill>
                  <a:srgbClr val="230E55"/>
                </a:solidFill>
                <a:latin typeface="NanumSquareRoundOTF Bold"/>
                <a:ea typeface="NanumSquareRoundOTF Bold"/>
                <a:cs typeface="NanumSquareRoundOTF Bold"/>
              </a:rPr>
              <a:t>한국민족문화대백과사전 기반의 신뢰할 수 있는 검색·답변 시스템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B6A6189-69D6-4EAA-A90C-99E93F5E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11442700"/>
            <a:ext cx="6972300" cy="81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55880" rIns="0" bIns="5588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99600"/>
              </a:lnSpc>
              <a:buNone/>
            </a:pPr>
            <a:r>
              <a:rPr sz="4400" b="0" i="0" u="none">
                <a:solidFill>
                  <a:srgbClr val="FFFFFF"/>
                </a:solidFill>
                <a:latin typeface="NanumSquareRoundOTF Bold"/>
                <a:ea typeface="NanumSquareRoundOTF Bold"/>
                <a:cs typeface="NanumSquareRoundOTF Bold"/>
              </a:rPr>
              <a:t>SKN 33기 3차 프로젝트</a:t>
            </a:r>
          </a:p>
        </p:txBody>
      </p:sp>
    </p:spTree>
    <p:extLst>
      <p:ext uri="{BB962C8B-B14F-4D97-AF65-F5344CB8AC3E}">
        <p14:creationId xmlns:p14="http://schemas.microsoft.com/office/powerpoint/2010/main" val="1748032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9b389c9d8470e">
            <a:alphaModFix amt="7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3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010f9e8934d3a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940000">
            <a:off x="-4483100" y="-2324100"/>
            <a:ext cx="10998200" cy="54610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1a3bbf392406f">
            <a:alphaModFix amt="38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575300" y="8775700"/>
            <a:ext cx="12204700" cy="55372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7737fc461484f">
            <a:alphaModFix amt="4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62400" y="11303000"/>
            <a:ext cx="11303000" cy="36195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ea79286f5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498600"/>
            <a:ext cx="21971000" cy="76200"/>
          </a:xfrm>
          <a:prstGeom xmlns:a="http://schemas.openxmlformats.org/drawingml/2006/main" prst="rect">
            <a:avLst/>
          </a:prstGeom>
        </p:spPr>
      </p:pic>
      <p:pic>
        <p:nvPicPr>
          <p:cNvPr id="3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a4f58de0544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6500" y="8089900"/>
            <a:ext cx="6997700" cy="5041900"/>
          </a:xfrm>
          <a:prstGeom xmlns:a="http://schemas.openxmlformats.org/drawingml/2006/main" prst="rect">
            <a:avLst/>
          </a:prstGeom>
        </p:spPr>
      </p:pic>
      <p:pic>
        <p:nvPicPr>
          <p:cNvPr id="3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c5c8a947c40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6500" y="3632200"/>
            <a:ext cx="6997700" cy="4254500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A8CDD02-22F8-44EB-B117-8E211571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800" y="8978900"/>
            <a:ext cx="62738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3200" b="0" i="0" u="none" spc="-1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서비스</a:t>
            </a:r>
            <a:r>
              <a:rPr sz="3200" b="0" i="0" u="none" spc="-1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200" b="0" i="0" u="none" spc="-1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개요</a:t>
            </a:r>
            <a:endParaRPr sz="3200" b="0" i="0" u="none" spc="-100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A35052-AD83-4740-A6B0-893299B6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800" y="9702800"/>
            <a:ext cx="6248400" cy="25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한국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문화·역사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질문에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문서를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근거로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답변합니다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 xmlns:a="http://schemas.openxmlformats.org/drawingml/2006/main">
            <a:pPr lvl="0" algn="ctr">
              <a:lnSpc>
                <a:spcPct val="116199"/>
              </a:lnSpc>
              <a:buNone/>
            </a:pPr>
            <a:endParaRPr sz="2800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원문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출처를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함께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제공해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근거를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확인할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있습니다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4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a4f58de0544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99500" y="8089900"/>
            <a:ext cx="6997700" cy="50419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c1d48c30b4b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99500" y="3632200"/>
            <a:ext cx="6997700" cy="4254500"/>
          </a:xfrm>
          <a:prstGeom xmlns:a="http://schemas.openxmlformats.org/drawingml/2006/main" prst="rect">
            <a:avLst/>
          </a:prstGeom>
        </p:spPr>
      </p:pic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0D0638D-12E6-4E0B-A03A-60261D2C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100" y="8978900"/>
            <a:ext cx="62738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3200" b="0" i="0" u="none" spc="-1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핵심</a:t>
            </a:r>
            <a:r>
              <a:rPr sz="3200" b="0" i="0" u="none" spc="-1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200" b="0" i="0" u="none" spc="-1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기능</a:t>
            </a:r>
            <a:endParaRPr sz="3200" b="0" i="0" u="none" spc="-100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3A91E8-DD46-41B4-937A-5AA0E033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9702800"/>
            <a:ext cx="6248400" cy="256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자연어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질문과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설명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수준을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입력합니다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 xmlns:a="http://schemas.openxmlformats.org/drawingml/2006/main">
            <a:pPr lvl="0" algn="ctr">
              <a:lnSpc>
                <a:spcPct val="116199"/>
              </a:lnSpc>
              <a:buNone/>
            </a:pPr>
            <a:endParaRPr sz="2800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</a:t>
            </a:r>
            <a:endParaRPr sz="2800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원문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출처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표시</a:t>
            </a:r>
            <a:endParaRPr sz="2800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근거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부족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거절</a:t>
            </a:r>
            <a:endParaRPr sz="2800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4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a4f58de0544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79800" y="8089900"/>
            <a:ext cx="6997700" cy="50419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4aaab0f1c47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79800" y="3632200"/>
            <a:ext cx="6997700" cy="42545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716A458C-D926-4913-B32B-6C414074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0" y="8978900"/>
            <a:ext cx="62738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3200" b="0" i="0" u="none" spc="-1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핵심</a:t>
            </a:r>
            <a:r>
              <a:rPr sz="3200" b="0" i="0" u="none" spc="-1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200" b="0" i="0" u="none" spc="-100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목표</a:t>
            </a:r>
            <a:endParaRPr sz="3200" b="0" i="0" u="none" spc="-100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ABABA9C-F9F4-4B16-AC4F-16835452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0" y="9690100"/>
            <a:ext cx="6248400" cy="157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자연스러운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답변을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넘어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신뢰할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있는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문서를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찾고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근거와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함께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답변하는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AI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서비스를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구현합니다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1317679-9B41-4F46-91B9-91A85F0D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070100"/>
            <a:ext cx="22225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82973" anchor="b"/>
          <a:lstStyle xmlns:a="http://schemas.openxmlformats.org/drawingml/2006/main"/>
          <a:p xmlns:a="http://schemas.openxmlformats.org/drawingml/2006/main">
            <a:pPr lvl="0" algn="ctr">
              <a:lnSpc>
                <a:spcPct val="99600"/>
              </a:lnSpc>
              <a:buNone/>
            </a:pP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프로젝트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소개</a:t>
            </a:r>
            <a:endParaRPr sz="65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</p:spTree>
    <p:extLst>
      <p:ext uri="{BB962C8B-B14F-4D97-AF65-F5344CB8AC3E}">
        <p14:creationId xmlns:p14="http://schemas.microsoft.com/office/powerpoint/2010/main" val="46349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228f16e3f4a31">
            <a:alphaModFix amt="7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1599c3f694d48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940000">
            <a:off x="-4483100" y="-2324100"/>
            <a:ext cx="10998200" cy="5461000"/>
          </a:xfrm>
          <a:prstGeom xmlns:a="http://schemas.openxmlformats.org/drawingml/2006/main" prst="rect">
            <a:avLst/>
          </a:prstGeom>
        </p:spPr>
      </p:pic>
      <p:pic>
        <p:nvPicPr>
          <p:cNvPr id="5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8247954144803">
            <a:alphaModFix amt="38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575300" y="8775700"/>
            <a:ext cx="12204700" cy="5537200"/>
          </a:xfrm>
          <a:prstGeom xmlns:a="http://schemas.openxmlformats.org/drawingml/2006/main" prst="rect">
            <a:avLst/>
          </a:prstGeom>
        </p:spPr>
      </p:pic>
      <p:pic>
        <p:nvPicPr>
          <p:cNvPr id="5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3f9be0ca3f48ba">
            <a:alphaModFix amt="4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62400" y="11303000"/>
            <a:ext cx="11303000" cy="3619500"/>
          </a:xfrm>
          <a:prstGeom xmlns:a="http://schemas.openxmlformats.org/drawingml/2006/main" prst="rect">
            <a:avLst/>
          </a:prstGeom>
        </p:spPr>
      </p:pic>
      <p:pic>
        <p:nvPicPr>
          <p:cNvPr id="5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e3acc40434a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498600"/>
            <a:ext cx="21971000" cy="76200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065C180-2F99-40FA-818E-075615AB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1430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82973" anchor="b"/>
          <a:lstStyle xmlns:a="http://schemas.openxmlformats.org/drawingml/2006/main"/>
          <a:p xmlns:a="http://schemas.openxmlformats.org/drawingml/2006/main">
            <a:pPr lvl="0" algn="l">
              <a:lnSpc>
                <a:spcPct val="99600"/>
              </a:lnSpc>
              <a:buNone/>
              <a:defRPr sz="4800" b="1">
                <a:solidFill>
                  <a:srgbClr val="25135F"/>
                </a:solidFill>
              </a:defRPr>
            </a:pPr>
            <a:r>
              <a:rPr sz="4800" b="1" i="0" u="none">
                <a:solidFill>
                  <a:srgbClr val="25135F"/>
                </a:solidFill>
                <a:latin typeface="Pretendard Black"/>
                <a:ea typeface="Pretendard Black"/>
                <a:cs typeface="Pretendard Black"/>
              </a:rPr>
              <a:t>주제 선정 계기</a:t>
            </a:r>
            <a:endParaRPr sz="65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57" name="그림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3a791d3404861"/>
          <a:srcRect xmlns:a="http://schemas.openxmlformats.org/drawingml/2006/main" l="0" t="25624" r="0" b="25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4705350"/>
            <a:ext cx="4695825" cy="2286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pic>
        <p:nvPicPr>
          <p:cNvPr id="58" name="그림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43d9794174e1a"/>
          <a:srcRect xmlns:a="http://schemas.openxmlformats.org/drawingml/2006/main" l="0" t="25624" r="0" b="25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77875" y="4705350"/>
            <a:ext cx="4695825" cy="2286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pic>
        <p:nvPicPr>
          <p:cNvPr id="5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7ef567e2044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8575000" y="-2857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AE412B7-223A-7381-9431-56F13C81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0" y="-28575000"/>
            <a:ext cx="9525" cy="2752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000">
                <a:latin typeface="Pretendard Regular"/>
                <a:ea typeface="Pretendard Regular"/>
                <a:cs typeface="Pretendard Regular"/>
              </a:rPr>
              <a:t>2026</a:t>
            </a:r>
            <a:r>
              <a:rPr sz="6000">
                <a:latin typeface="Pretendard Regular"/>
                <a:ea typeface="Pretendard Regular"/>
                <a:cs typeface="Pretendard Regular"/>
              </a:rPr>
              <a:t>년 상반기 관람객 전년 동기 대비 </a:t>
            </a:r>
            <a:r>
              <a:rPr sz="6000">
                <a:latin typeface="Pretendard Regular"/>
                <a:ea typeface="Pretendard Regular"/>
                <a:cs typeface="Pretendard Regular"/>
              </a:rPr>
              <a:t>+ 39.7%</a:t>
            </a:r>
            <a:endParaRPr sz="600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0AA5CD-389C-4961-96DB-2DA104F5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B6475"/>
                </a:solidFill>
              </a:defRPr>
            </a:pPr>
            <a:r>
              <a:rPr sz="2025">
                <a:solidFill>
                  <a:srgbClr val="6B6475"/>
                </a:solidFill>
              </a:rPr>
              <a:t>최근 한국 전통문화와 박물관 콘텐츠에 대한 대중의 관심 증가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6491A6-4F45-4479-9B48-8F785C99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0144125" cy="56197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D3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329171-7360-4EB0-AD83-20418614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095750"/>
            <a:ext cx="10144125" cy="56197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D3EF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7e4ce829543ef"/>
          <a:srcRect xmlns:a="http://schemas.openxmlformats.org/drawingml/2006/main" l="0" t="25624" r="0" b="25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000" y="4705350"/>
            <a:ext cx="4695825" cy="2286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de2fd449c4d5f"/>
          <a:srcRect xmlns:a="http://schemas.openxmlformats.org/drawingml/2006/main" l="0" t="25624" r="0" b="25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77875" y="4705350"/>
            <a:ext cx="4695825" cy="2286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DC7AB6-40E7-4FCD-9665-BA9479E3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135F"/>
                </a:solidFill>
              </a:defRPr>
            </a:pPr>
            <a:r>
              <a:rPr sz="1650" b="1">
                <a:solidFill>
                  <a:srgbClr val="25135F"/>
                </a:solidFill>
              </a:rPr>
              <a:t>2025년 연간 관람객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B6D7F7-2895-4B9E-9E5C-54A485A1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4324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135F"/>
                </a:solidFill>
              </a:defRPr>
            </a:pPr>
            <a:r>
              <a:rPr sz="1650" b="1">
                <a:solidFill>
                  <a:srgbClr val="25135F"/>
                </a:solidFill>
              </a:rPr>
              <a:t>2026년 상반기 관람객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FEC00-B4DC-4E1D-B3BE-8EA50FB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95825"/>
            <a:ext cx="44767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28FFAA-CA14-4942-9BB0-0D10F346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1825" y="4695825"/>
            <a:ext cx="44767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987597-8C93-420F-9DA0-66F32579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5135F"/>
                </a:solidFill>
              </a:defRPr>
            </a:pPr>
            <a:r>
              <a:rPr sz="5400" b="1">
                <a:solidFill>
                  <a:srgbClr val="25135F"/>
                </a:solidFill>
              </a:rPr>
              <a:t>650만 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DE4721-39FD-40BF-A486-C4D4A801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905500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02B3E"/>
                </a:solidFill>
              </a:defRPr>
            </a:pPr>
            <a:r>
              <a:rPr sz="1800" b="1">
                <a:solidFill>
                  <a:srgbClr val="302B3E"/>
                </a:solidFill>
              </a:rPr>
              <a:t>2025년 연간 관람객</a:t>
            </a:r>
          </a:p>
          <a:p xmlns:a="http://schemas.openxmlformats.org/drawingml/2006/main">
            <a:pPr>
              <a:defRPr sz="1800" b="1">
                <a:solidFill>
                  <a:srgbClr val="302B3E"/>
                </a:solidFill>
              </a:defRPr>
            </a:pPr>
            <a:r>
              <a:rPr sz="1800" b="1">
                <a:solidFill>
                  <a:srgbClr val="302B3E"/>
                </a:solidFill>
              </a:rPr>
              <a:t>개관 이래 역대 최다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E965EC-E832-4597-85E7-46CC2E7D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100" y="49530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5135F"/>
                </a:solidFill>
              </a:defRPr>
            </a:pPr>
            <a:r>
              <a:rPr sz="5100" b="1">
                <a:solidFill>
                  <a:srgbClr val="25135F"/>
                </a:solidFill>
              </a:rPr>
              <a:t>379.5만 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291B92-C35A-4ACD-8A3B-D5634CDD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0" y="5886450"/>
            <a:ext cx="3571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02B3E"/>
                </a:solidFill>
              </a:defRPr>
            </a:pPr>
            <a:r>
              <a:rPr sz="1800" b="1">
                <a:solidFill>
                  <a:srgbClr val="302B3E"/>
                </a:solidFill>
              </a:rPr>
              <a:t>2026년 상반기 관람객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903BF7-668D-42D1-8CEC-54750478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0" y="6334125"/>
            <a:ext cx="209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8AD1DD-C6BD-4303-9609-5F193C57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550" y="64103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135F"/>
                </a:solidFill>
              </a:defRPr>
            </a:pPr>
            <a:r>
              <a:rPr sz="1350" b="1">
                <a:solidFill>
                  <a:srgbClr val="25135F"/>
                </a:solidFill>
              </a:rPr>
              <a:t>전년 동기 대비 +39.7%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DF4845-A5F2-48BB-AA9E-4BE97CAF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2961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9CA2F6-DB70-43CB-9256-D43768D3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72961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B3A44C-D606-41FA-9E7B-8810E13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009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02B3E"/>
                </a:solidFill>
              </a:defRPr>
            </a:pPr>
            <a:r>
              <a:rPr sz="2250" b="1">
                <a:solidFill>
                  <a:srgbClr val="302B3E"/>
                </a:solidFill>
              </a:rPr>
              <a:t>박물관 문화상품 ‘뮷즈’</a:t>
            </a:r>
          </a:p>
          <a:p xmlns:a="http://schemas.openxmlformats.org/drawingml/2006/main">
            <a:pPr>
              <a:defRPr sz="2250" b="1">
                <a:solidFill>
                  <a:srgbClr val="302B3E"/>
                </a:solidFill>
              </a:defRPr>
            </a:pPr>
            <a:r>
              <a:rPr sz="2250" b="1">
                <a:solidFill>
                  <a:srgbClr val="302B3E"/>
                </a:solidFill>
              </a:rPr>
              <a:t>매출 400억 원 돌파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0894A5-5C71-4CED-BCFB-3050BF1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76009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02B3E"/>
                </a:solidFill>
              </a:defRPr>
            </a:pPr>
            <a:r>
              <a:rPr sz="2250" b="1">
                <a:solidFill>
                  <a:srgbClr val="302B3E"/>
                </a:solidFill>
              </a:rPr>
              <a:t>관람객 증가로 여름방학</a:t>
            </a:r>
          </a:p>
          <a:p xmlns:a="http://schemas.openxmlformats.org/drawingml/2006/main">
            <a:pPr>
              <a:defRPr sz="2250" b="1">
                <a:solidFill>
                  <a:srgbClr val="302B3E"/>
                </a:solidFill>
              </a:defRPr>
            </a:pPr>
            <a:r>
              <a:rPr sz="2250" b="1">
                <a:solidFill>
                  <a:srgbClr val="302B3E"/>
                </a:solidFill>
              </a:rPr>
              <a:t>관람시간 1시간 연장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5AB154-873C-4CE2-9CAC-3C746145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191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6475"/>
                </a:solidFill>
              </a:defRPr>
            </a:pPr>
            <a:r>
              <a:rPr sz="1200">
                <a:solidFill>
                  <a:srgbClr val="6B6475"/>
                </a:solidFill>
              </a:rPr>
              <a:t>출처: 국립중앙박물관, 2026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910EBE-A3D8-4FCB-857E-16549C57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91916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6475"/>
                </a:solidFill>
              </a:defRPr>
            </a:pPr>
            <a:r>
              <a:rPr sz="1200">
                <a:solidFill>
                  <a:srgbClr val="6B6475"/>
                </a:solidFill>
              </a:rPr>
              <a:t>출처: 국립중앙박물관, 2026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97243C-0B6D-40EA-931A-93E6983A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125075"/>
            <a:ext cx="2152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302B3E"/>
                </a:solidFill>
              </a:defRPr>
            </a:pPr>
            <a:r>
              <a:rPr sz="2025">
                <a:solidFill>
                  <a:srgbClr val="302B3E"/>
                </a:solidFill>
              </a:rPr>
              <a:t>단순히 문화유산을 관람하는 것을 넘어, 전통문화를 하나의 콘텐츠로 즐기고 탐색하는 흐름이 확대되고 있습니다.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6303EF-F15A-4ED3-96E3-39782FC4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887075"/>
            <a:ext cx="19240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EEF9"/>
          </a:solidFill>
          <a:ln xmlns:a="http://schemas.openxmlformats.org/drawingml/2006/main" w="9525">
            <a:solidFill>
              <a:srgbClr val="E0D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F2DA9F-FB0D-4606-9EC7-5B7DEA55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153775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13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DCFF4E-5048-47DB-8BC9-543C965A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144250"/>
            <a:ext cx="1771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135F"/>
                </a:solidFill>
              </a:defRPr>
            </a:pPr>
            <a:r>
              <a:rPr sz="2550" b="1">
                <a:solidFill>
                  <a:srgbClr val="25135F"/>
                </a:solidFill>
              </a:rPr>
              <a:t>높아진 문화유산에 대한 관심을, 신뢰할 수 있는 지식 탐색 경험으로 연결하고자 했습니다.</a:t>
            </a:r>
          </a:p>
        </p:txBody>
      </p:sp>
    </p:spTree>
    <p:extLst>
      <p:ext uri="{BB962C8B-B14F-4D97-AF65-F5344CB8AC3E}">
        <p14:creationId xmlns:p14="http://schemas.microsoft.com/office/powerpoint/2010/main" val="457950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64FAAAD-27C5-415D-BD54-357899B5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687300"/>
            <a:ext cx="13703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435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출처: 국립중앙박물관, 「2026년 상반기 관람객 현황」, 2026</a:t>
            </a:r>
          </a:p>
        </p:txBody>
      </p:sp>
    </p:spTree>
    <p:extLst>
      <p:ext uri="{BB962C8B-B14F-4D97-AF65-F5344CB8AC3E}">
        <p14:creationId xmlns:p14="http://schemas.microsoft.com/office/powerpoint/2010/main" val="1144354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8caba36d743b1">
            <a:alphaModFix amt="7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3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e57349abc4364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940000">
            <a:off x="-4483100" y="-2324100"/>
            <a:ext cx="10998200" cy="54610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818d09d6244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498600"/>
            <a:ext cx="21971000" cy="76200"/>
          </a:xfrm>
          <a:prstGeom xmlns:a="http://schemas.openxmlformats.org/drawingml/2006/main" prst="rect">
            <a:avLst/>
          </a:prstGeom>
        </p:spPr>
      </p:pic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46d522dbc4c1f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70200" y="10160000"/>
            <a:ext cx="11264900" cy="46101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f6bda10e54ec4">
            <a:alphaModFix amt="5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330700" y="9499600"/>
            <a:ext cx="12268200" cy="52197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050eb58944e5b">
            <a:alphaModFix amt="2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11099800"/>
            <a:ext cx="3594100" cy="4318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272264c764de5">
            <a:alphaModFix amt="2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11785600"/>
            <a:ext cx="3594100" cy="431800"/>
          </a:xfrm>
          <a:prstGeom xmlns:a="http://schemas.openxmlformats.org/drawingml/2006/main" prst="rect">
            <a:avLst/>
          </a:prstGeom>
        </p:spPr>
      </p:pic>
      <p:pic>
        <p:nvPicPr>
          <p:cNvPr id="3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16a93b9344b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4800" y="4051300"/>
            <a:ext cx="20878800" cy="3771900"/>
          </a:xfrm>
          <a:prstGeom xmlns:a="http://schemas.openxmlformats.org/drawingml/2006/main" prst="rect">
            <a:avLst/>
          </a:prstGeom>
        </p:spPr>
      </p:pic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2108CD9-B2FF-4238-8937-50C49DFB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4521200"/>
            <a:ext cx="20104100" cy="6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일반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LLM의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한계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             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82F0AF-2B67-4DF5-9167-DD8DF918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5232400"/>
            <a:ext cx="20066000" cy="207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LLM은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자연스러운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답변을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만들지만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출처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확인이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어렵습니다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endParaRPr sz="2800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허위정보를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자연스럽게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생성할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있음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                                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GPT 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질문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답변의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근거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부재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-&gt; 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양질의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근거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제공</a:t>
            </a:r>
            <a:endParaRPr sz="2800" b="0" i="0" u="none">
              <a:solidFill>
                <a:srgbClr val="D94925"/>
              </a:solidFill>
              <a:latin typeface="Pretendard Regular"/>
              <a:ea typeface="Pretendard Regular"/>
              <a:cs typeface="Pretendard Regular"/>
            </a:endParaRP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근거의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확인이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어려움</a:t>
            </a:r>
            <a:endParaRPr sz="2800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16a93b9344b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4800" y="8153400"/>
            <a:ext cx="20878800" cy="3771900"/>
          </a:xfrm>
          <a:prstGeom xmlns:a="http://schemas.openxmlformats.org/drawingml/2006/main" prst="rect">
            <a:avLst/>
          </a:prstGeom>
        </p:spPr>
      </p:pic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8DB2423-652C-440C-B48D-08609250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8623300"/>
            <a:ext cx="20104100" cy="6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RAG가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필요한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이유와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주요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사용자</a:t>
            </a:r>
            <a:endParaRPr sz="3600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F33551-4380-40AB-8B65-A7A966F3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9347200"/>
            <a:ext cx="20066000" cy="157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한국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문화와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역사에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관심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있는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학생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학습자를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대상으로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합니다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endParaRPr sz="2800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어렵고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긴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백과사전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내용을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쉽게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이해할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있도록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근거와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함께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제공합니다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42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2c95925ce42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68100" y="7429500"/>
            <a:ext cx="1104900" cy="1104900"/>
          </a:xfrm>
          <a:prstGeom xmlns:a="http://schemas.openxmlformats.org/drawingml/2006/main" prst="rect">
            <a:avLst/>
          </a:prstGeom>
        </p:spPr>
      </p:pic>
      <p:pic>
        <p:nvPicPr>
          <p:cNvPr id="43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abb91f6e748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11493500" y="7454900"/>
            <a:ext cx="1054100" cy="10541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64CDAD-B2A4-4D68-842A-58CBCF33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070100"/>
            <a:ext cx="22225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82973" anchor="b"/>
          <a:lstStyle xmlns:a="http://schemas.openxmlformats.org/drawingml/2006/main"/>
          <a:p xmlns:a="http://schemas.openxmlformats.org/drawingml/2006/main">
            <a:pPr lvl="0" algn="ctr">
              <a:lnSpc>
                <a:spcPct val="99600"/>
              </a:lnSpc>
              <a:buNone/>
            </a:pP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해결하려는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문제와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사용자</a:t>
            </a:r>
            <a:endParaRPr sz="65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</p:spTree>
    <p:extLst>
      <p:ext uri="{BB962C8B-B14F-4D97-AF65-F5344CB8AC3E}">
        <p14:creationId xmlns:p14="http://schemas.microsoft.com/office/powerpoint/2010/main" val="1029873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b63c5780e453a">
            <a:alphaModFix amt="7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aaa783ffd42b2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940000">
            <a:off x="-4483100" y="-2324100"/>
            <a:ext cx="10998200" cy="5461000"/>
          </a:xfrm>
          <a:prstGeom xmlns:a="http://schemas.openxmlformats.org/drawingml/2006/main" prst="rect">
            <a:avLst/>
          </a:prstGeom>
        </p:spPr>
      </p:pic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7da0adc0a4b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70200" y="10160000"/>
            <a:ext cx="11264900" cy="4610100"/>
          </a:xfrm>
          <a:prstGeom xmlns:a="http://schemas.openxmlformats.org/drawingml/2006/main" prst="rect">
            <a:avLst/>
          </a:prstGeom>
        </p:spPr>
      </p:pic>
      <p:pic>
        <p:nvPicPr>
          <p:cNvPr id="4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7cc53c7254fbd">
            <a:alphaModFix amt="68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330700" y="9499600"/>
            <a:ext cx="12268200" cy="52197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6b4247c3042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5588000" y="7937500"/>
            <a:ext cx="1562100" cy="558800"/>
          </a:xfrm>
          <a:prstGeom xmlns:a="http://schemas.openxmlformats.org/drawingml/2006/main" prst="rect">
            <a:avLst/>
          </a:prstGeom>
        </p:spPr>
      </p:pic>
      <p:pic>
        <p:nvPicPr>
          <p:cNvPr id="4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2d5f3d66f41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11430000" y="7937500"/>
            <a:ext cx="1562100" cy="558800"/>
          </a:xfrm>
          <a:prstGeom xmlns:a="http://schemas.openxmlformats.org/drawingml/2006/main" prst="rect">
            <a:avLst/>
          </a:prstGeom>
        </p:spPr>
      </p:pic>
      <p:pic>
        <p:nvPicPr>
          <p:cNvPr id="4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8d20ca24e4d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17272000" y="7937500"/>
            <a:ext cx="1562100" cy="558800"/>
          </a:xfrm>
          <a:prstGeom xmlns:a="http://schemas.openxmlformats.org/drawingml/2006/main" prst="rect">
            <a:avLst/>
          </a:prstGeom>
        </p:spPr>
      </p:pic>
      <p:pic>
        <p:nvPicPr>
          <p:cNvPr id="48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749c8bbb34e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78500" y="3949700"/>
            <a:ext cx="4965700" cy="85344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dc59767bf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20000" y="4787900"/>
            <a:ext cx="1295400" cy="12954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ac012a33440af">
            <a:alphaModFix amt="6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9800" y="3924300"/>
            <a:ext cx="4965700" cy="85471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ea3c2df614d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500" y="4356100"/>
            <a:ext cx="2146300" cy="2146300"/>
          </a:xfrm>
          <a:prstGeom xmlns:a="http://schemas.openxmlformats.org/drawingml/2006/main" prst="rect">
            <a:avLst/>
          </a:prstGeom>
        </p:spPr>
      </p:pic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7C1973D-388D-48AE-A0AD-DA81A162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975600"/>
            <a:ext cx="4559300" cy="176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백과사전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데이터를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정제하고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메타데이터를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구성한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뒤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청킹합니다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B5C7E9E-D1EB-49F7-B4C5-7282FD9E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7327900"/>
            <a:ext cx="45847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데이터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정제·메타데이터</a:t>
            </a:r>
            <a:endParaRPr sz="3200" b="0" i="0" u="none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5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ea016542c4d49">
            <a:alphaModFix amt="8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3949700"/>
            <a:ext cx="4965700" cy="8534400"/>
          </a:xfrm>
          <a:prstGeom xmlns:a="http://schemas.openxmlformats.org/drawingml/2006/main" prst="rect">
            <a:avLst/>
          </a:prstGeom>
        </p:spPr>
      </p:pic>
      <p:pic>
        <p:nvPicPr>
          <p:cNvPr id="5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3bd04dd8d41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5000" y="426720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6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7453348644415">
            <a:alphaModFix amt="9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36500" y="3962400"/>
            <a:ext cx="4965700" cy="8521700"/>
          </a:xfrm>
          <a:prstGeom xmlns:a="http://schemas.openxmlformats.org/drawingml/2006/main" prst="rect">
            <a:avLst/>
          </a:prstGeom>
        </p:spPr>
      </p:pic>
      <p:pic>
        <p:nvPicPr>
          <p:cNvPr id="57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bb8ae06fd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44600" y="4216400"/>
            <a:ext cx="2336800" cy="2336800"/>
          </a:xfrm>
          <a:prstGeom xmlns:a="http://schemas.openxmlformats.org/drawingml/2006/main" prst="rect">
            <a:avLst/>
          </a:prstGeom>
        </p:spPr>
      </p:pic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D1B2A78-59C5-4EF8-B410-D909A79E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7975600"/>
            <a:ext cx="4559300" cy="176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OpenAI text-embedding-3-small로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임베딩하고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Pinecone에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저장합니다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A2F8695-8E79-493E-BB43-42647E51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327900"/>
            <a:ext cx="45847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임베딩·벡터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저장</a:t>
            </a:r>
            <a:endParaRPr sz="3200" b="0" i="0" u="none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66F4D8AA-35EC-41A7-83AD-E69321C6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7975600"/>
            <a:ext cx="4559300" cy="176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Dense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Search와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BM25를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결합하고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RRF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기반으로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결과를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통합합니다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4CCAB2E6-3467-430B-BCB3-1C2A002F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000" y="7327900"/>
            <a:ext cx="45847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하이브리드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검색</a:t>
            </a:r>
            <a:endParaRPr sz="3200" b="0" i="0" u="none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9DF5016-7BD1-4F45-8A3F-506EC0E0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1700" y="7975600"/>
            <a:ext cx="4559300" cy="28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문서의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근거가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충분한지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판단합니다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충분하면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답변과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원문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출처를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제공하고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부족하면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답변을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거절합니다</a:t>
            </a:r>
            <a:r>
              <a:rPr sz="2800" b="0" i="0" u="non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2D46C5D-78A6-44CF-80A9-0B477F65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0" y="7327900"/>
            <a:ext cx="45847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근거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확인·답변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생성</a:t>
            </a:r>
            <a:endParaRPr sz="3200" b="0" i="0" u="none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72EF1DE-368D-48B0-BAE9-42392F1F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070100"/>
            <a:ext cx="22225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82973" anchor="b"/>
          <a:lstStyle xmlns:a="http://schemas.openxmlformats.org/drawingml/2006/main"/>
          <a:p xmlns:a="http://schemas.openxmlformats.org/drawingml/2006/main">
            <a:pPr lvl="0" algn="ctr">
              <a:lnSpc>
                <a:spcPct val="99600"/>
              </a:lnSpc>
              <a:buNone/>
            </a:pP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RAG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시스템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아키텍처</a:t>
            </a:r>
            <a:endParaRPr sz="65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</p:spTree>
    <p:extLst>
      <p:ext uri="{BB962C8B-B14F-4D97-AF65-F5344CB8AC3E}">
        <p14:creationId xmlns:p14="http://schemas.microsoft.com/office/powerpoint/2010/main" val="17772831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b500fccd14d58">
            <a:alphaModFix amt="7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3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e0e1a2d634e3a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940000">
            <a:off x="-4483100" y="-2324100"/>
            <a:ext cx="10998200" cy="54610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77227e4e54e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498600"/>
            <a:ext cx="21971000" cy="76200"/>
          </a:xfrm>
          <a:prstGeom xmlns:a="http://schemas.openxmlformats.org/drawingml/2006/main" prst="rect">
            <a:avLst/>
          </a:prstGeom>
        </p:spPr>
      </p:pic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12c45693d49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70200" y="10160000"/>
            <a:ext cx="11264900" cy="46101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96b5e96c74be6">
            <a:alphaModFix amt="3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330700" y="9499600"/>
            <a:ext cx="12268200" cy="52197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ca13029f0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2400" y="3581400"/>
            <a:ext cx="10553700" cy="44323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78d757c7547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07900" y="3581400"/>
            <a:ext cx="10553700" cy="4432300"/>
          </a:xfrm>
          <a:prstGeom xmlns:a="http://schemas.openxmlformats.org/drawingml/2006/main" prst="rect">
            <a:avLst/>
          </a:prstGeom>
        </p:spPr>
      </p:pic>
      <p:pic>
        <p:nvPicPr>
          <p:cNvPr id="3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1917edfd649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2400" y="8356600"/>
            <a:ext cx="10553700" cy="4432300"/>
          </a:xfrm>
          <a:prstGeom xmlns:a="http://schemas.openxmlformats.org/drawingml/2006/main" prst="rect">
            <a:avLst/>
          </a:prstGeom>
        </p:spPr>
      </p:pic>
      <p:pic>
        <p:nvPicPr>
          <p:cNvPr id="3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0e610694348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07900" y="8356600"/>
            <a:ext cx="10553700" cy="4432300"/>
          </a:xfrm>
          <a:prstGeom xmlns:a="http://schemas.openxmlformats.org/drawingml/2006/main" prst="rect">
            <a:avLst/>
          </a:prstGeom>
        </p:spPr>
      </p:pic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0DA1D2-C2C7-4099-AC39-7D8CE38A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700" y="4699000"/>
            <a:ext cx="9715500" cy="6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데이터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출처</a:t>
            </a:r>
            <a:endParaRPr sz="3600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0DDC107-215B-4D04-92D0-9197FB2F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700" y="5410200"/>
            <a:ext cx="9677400" cy="207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한국학중앙연구원의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한국민족문화대백과사전을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사용했습니다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endParaRPr sz="2800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endParaRPr sz="2800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1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홈페이지</a:t>
            </a:r>
            <a:r>
              <a:rPr sz="2800" b="1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1" i="0" u="non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보여주기</a:t>
            </a:r>
            <a:endParaRPr sz="2800" b="1" i="0" u="none">
              <a:solidFill>
                <a:srgbClr val="D94925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B5C1C31-CF5E-4456-A437-40C699FC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700" y="9474200"/>
            <a:ext cx="9715500" cy="6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청킹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결과</a:t>
            </a:r>
            <a:endParaRPr sz="3600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CF400F-3B35-439C-97F2-B29334F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700" y="10185400"/>
            <a:ext cx="9677400" cy="107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최종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청크는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179,028개입니다.</a:t>
            </a: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구조와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메타데이터를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활용해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기반으로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전처리했습니다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475A639-7902-424A-8A25-9EEDDDA6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0500" y="4699000"/>
            <a:ext cx="9715500" cy="6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수집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규모</a:t>
            </a:r>
            <a:endParaRPr sz="3600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30C40DE-D151-45B8-A92E-13E37133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0500" y="5410200"/>
            <a:ext cx="9677400" cy="107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수집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성공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75,835건</a:t>
            </a: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75,820건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3C2ABA7-55CC-49B1-B192-10A0FACC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0500" y="9474200"/>
            <a:ext cx="9715500" cy="6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메타데이터</a:t>
            </a:r>
            <a:endParaRPr sz="3600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DC01FFC9-8978-4FE8-BA65-08C0DF37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0500" y="10185400"/>
            <a:ext cx="9677400" cy="107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EID,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제목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원문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URL,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카테고리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자료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유형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수정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시점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Section, Chunk ID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57635CD-FF6A-44DA-AD01-B9C909B2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070100"/>
            <a:ext cx="22225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82973" anchor="b"/>
          <a:lstStyle xmlns:a="http://schemas.openxmlformats.org/drawingml/2006/main"/>
          <a:p xmlns:a="http://schemas.openxmlformats.org/drawingml/2006/main">
            <a:pPr lvl="0" algn="ctr">
              <a:lnSpc>
                <a:spcPct val="99600"/>
              </a:lnSpc>
              <a:buNone/>
            </a:pP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데이터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선정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및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전처리</a:t>
            </a:r>
            <a:endParaRPr sz="65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</p:spTree>
    <p:extLst>
      <p:ext uri="{BB962C8B-B14F-4D97-AF65-F5344CB8AC3E}">
        <p14:creationId xmlns:p14="http://schemas.microsoft.com/office/powerpoint/2010/main" val="13422448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f888d25424f8f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940000">
            <a:off x="-4483100" y="-2324100"/>
            <a:ext cx="10998200" cy="5461000"/>
          </a:xfrm>
          <a:prstGeom xmlns:a="http://schemas.openxmlformats.org/drawingml/2006/main" prst="rect">
            <a:avLst/>
          </a:prstGeom>
        </p:spPr>
      </p:pic>
      <p:pic>
        <p:nvPicPr>
          <p:cNvPr id="2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acbaaf24c43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0bbf9c0fa4a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498600"/>
            <a:ext cx="21971000" cy="76200"/>
          </a:xfrm>
          <a:prstGeom xmlns:a="http://schemas.openxmlformats.org/drawingml/2006/main" prst="rect">
            <a:avLst/>
          </a:prstGeom>
        </p:spPr>
      </p:pic>
      <p:pic>
        <p:nvPicPr>
          <p:cNvPr id="3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93db8b0da40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6500" y="4406900"/>
            <a:ext cx="7493000" cy="34925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9192306a04b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6500" y="8928100"/>
            <a:ext cx="7493000" cy="3492500"/>
          </a:xfrm>
          <a:prstGeom xmlns:a="http://schemas.openxmlformats.org/drawingml/2006/main" prst="rect">
            <a:avLst/>
          </a:prstGeom>
        </p:spPr>
      </p:pic>
      <p:pic>
        <p:nvPicPr>
          <p:cNvPr id="3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388a479664c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4500" y="4368800"/>
            <a:ext cx="7493000" cy="34925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883616b6d45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4500" y="8928100"/>
            <a:ext cx="7493000" cy="3492500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F0D5FA8-92F0-41E9-943B-213F30B2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40300"/>
            <a:ext cx="6692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최대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크기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1,500자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250AEE2-C562-4554-A566-2090FFEB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49900"/>
            <a:ext cx="6680200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정의와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본문을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분리하고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문단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경계를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유지합니다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초기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기준은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최대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1,500자입니다.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1DB2F3-0C3B-41A6-9F8A-5CFE1A8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9410700"/>
            <a:ext cx="6692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오버랩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200자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BA2F7BD-6C61-46B2-841E-81921E3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020300"/>
            <a:ext cx="6680200" cy="187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분포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분석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:</a:t>
            </a: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중앙값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약 769자</a:t>
            </a: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- 75%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지점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약 1,292자</a:t>
            </a: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- 90%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지점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약 2,283자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EA46A85-FD1F-4E8E-9DC0-092E996B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0" y="4940300"/>
            <a:ext cx="6692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문단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경계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유지</a:t>
            </a:r>
            <a:endParaRPr sz="3066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9F98BE0-CC85-4379-B5C7-67F9A258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0" y="5549900"/>
            <a:ext cx="6680200" cy="14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약 80.3%의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문서가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1,500자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이하입니다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현재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설정이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분포를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반영하는지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확인했습니다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8E98ACB-3F9B-465C-A61D-F116FD43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0" y="9410700"/>
            <a:ext cx="6692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조건별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성능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066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비교</a:t>
            </a:r>
            <a:endParaRPr sz="3066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C229013-5875-453E-99BB-FE57E71B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0" y="10020300"/>
            <a:ext cx="6680200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1,000/150, 1,500/200, 2,000/200, 1,500/0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조건을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동일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평가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세트로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비교합니다</a:t>
            </a:r>
            <a:r>
              <a:rPr sz="2533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19796A-8315-4583-A9CB-EDE62F84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070100"/>
            <a:ext cx="22225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82973" anchor="b"/>
          <a:lstStyle xmlns:a="http://schemas.openxmlformats.org/drawingml/2006/main"/>
          <a:p xmlns:a="http://schemas.openxmlformats.org/drawingml/2006/main">
            <a:pPr lvl="0" algn="ctr">
              <a:lnSpc>
                <a:spcPct val="99600"/>
              </a:lnSpc>
              <a:buNone/>
            </a:pP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Chunking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전략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및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최적화</a:t>
            </a:r>
            <a:endParaRPr sz="65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E4ECE8A-892F-4FAD-A6D7-1C1CC481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918200"/>
            <a:ext cx="9029700" cy="215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4000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장문 예시 단문 예시</a:t>
            </a: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endParaRPr sz="4000" b="0" i="0" u="none">
              <a:solidFill>
                <a:srgbClr val="000000"/>
              </a:solidFill>
              <a:latin typeface="Pretendard Black"/>
              <a:ea typeface="Pretendard Black"/>
              <a:cs typeface="Pretendard Black"/>
            </a:endParaRPr>
          </a:p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4000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데이터 분포 그래프 HTML 파일 찾기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26C3899-CAED-4A80-B5FF-0F900A44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6400" y="12446000"/>
            <a:ext cx="8597900" cy="90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4897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PINECONE 데이터 보여주기</a:t>
            </a:r>
          </a:p>
        </p:txBody>
      </p:sp>
    </p:spTree>
    <p:extLst>
      <p:ext uri="{BB962C8B-B14F-4D97-AF65-F5344CB8AC3E}">
        <p14:creationId xmlns:p14="http://schemas.microsoft.com/office/powerpoint/2010/main" val="380149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39a60548a4618">
            <a:alphaModFix amt="7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3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f3da4f61c49ab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940000">
            <a:off x="-4483100" y="-2324100"/>
            <a:ext cx="10998200" cy="54610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90547ff104a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498600"/>
            <a:ext cx="21971000" cy="76200"/>
          </a:xfrm>
          <a:prstGeom xmlns:a="http://schemas.openxmlformats.org/drawingml/2006/main" prst="rect">
            <a:avLst/>
          </a:prstGeom>
        </p:spPr>
      </p:pic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479e49afe4ee6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70200" y="10160000"/>
            <a:ext cx="11264900" cy="46101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03b4121ab4856">
            <a:alphaModFix amt="5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330700" y="9499600"/>
            <a:ext cx="12268200" cy="52197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5d594e11a4047">
            <a:alphaModFix amt="2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11099800"/>
            <a:ext cx="3594100" cy="4318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88f5e6a10410c">
            <a:alphaModFix amt="2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11785600"/>
            <a:ext cx="3594100" cy="431800"/>
          </a:xfrm>
          <a:prstGeom xmlns:a="http://schemas.openxmlformats.org/drawingml/2006/main" prst="rect">
            <a:avLst/>
          </a:prstGeom>
        </p:spPr>
      </p:pic>
      <p:pic>
        <p:nvPicPr>
          <p:cNvPr id="3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cc13bf72f49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4800" y="4051300"/>
            <a:ext cx="20878800" cy="3771900"/>
          </a:xfrm>
          <a:prstGeom xmlns:a="http://schemas.openxmlformats.org/drawingml/2006/main" prst="rect">
            <a:avLst/>
          </a:prstGeom>
        </p:spPr>
      </p:pic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C32DC8E-2CF0-4341-9EFF-4CD7825F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4521200"/>
            <a:ext cx="20104100" cy="6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발견된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문제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사례</a:t>
            </a:r>
            <a:endParaRPr sz="3600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43D5EE3-481C-4106-A3DB-3312101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5232400"/>
            <a:ext cx="20066000" cy="58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종묘는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곳인가요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?’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에서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1위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중앙종묘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㈜’로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반환되었습니다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 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향원정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’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질문에서도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정답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3위에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머물렀습니다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3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d3820391940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4800" y="8153400"/>
            <a:ext cx="20878800" cy="3771900"/>
          </a:xfrm>
          <a:prstGeom xmlns:a="http://schemas.openxmlformats.org/drawingml/2006/main" prst="rect">
            <a:avLst/>
          </a:prstGeom>
        </p:spPr>
      </p:pic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BC9F88A-3D81-4D0F-9B94-795E563B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8623300"/>
            <a:ext cx="20104100" cy="6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문제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분석과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개선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가설</a:t>
            </a:r>
            <a:endParaRPr sz="3600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F456267-B435-42CB-A3BE-7FF79A8A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9334500"/>
            <a:ext cx="20066000" cy="107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Dense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Search는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의미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유사도에는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강하지만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고유명사와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정확한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키워드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일치에는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취약합니다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 BM25를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결합해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두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방식의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장점을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보완합니다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42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c3bf5c8d64e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68100" y="7429500"/>
            <a:ext cx="1104900" cy="1104900"/>
          </a:xfrm>
          <a:prstGeom xmlns:a="http://schemas.openxmlformats.org/drawingml/2006/main" prst="rect">
            <a:avLst/>
          </a:prstGeom>
        </p:spPr>
      </p:pic>
      <p:pic>
        <p:nvPicPr>
          <p:cNvPr id="43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34886ad7a41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11493500" y="7454900"/>
            <a:ext cx="1054100" cy="10541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85A676A-3D2E-457B-AC1B-826942C2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070100"/>
            <a:ext cx="22225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82973" anchor="b"/>
          <a:lstStyle xmlns:a="http://schemas.openxmlformats.org/drawingml/2006/main"/>
          <a:p xmlns:a="http://schemas.openxmlformats.org/drawingml/2006/main">
            <a:pPr lvl="0" algn="ctr">
              <a:lnSpc>
                <a:spcPct val="99600"/>
              </a:lnSpc>
              <a:buNone/>
            </a:pP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Dense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Search의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문제점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발견</a:t>
            </a:r>
            <a:endParaRPr sz="65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</p:spTree>
    <p:extLst>
      <p:ext uri="{BB962C8B-B14F-4D97-AF65-F5344CB8AC3E}">
        <p14:creationId xmlns:p14="http://schemas.microsoft.com/office/powerpoint/2010/main" val="18479473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9626c09624ad0">
            <a:alphaModFix amt="7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3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dad51fd2644f2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940000">
            <a:off x="-4483100" y="-2324100"/>
            <a:ext cx="10998200" cy="5461000"/>
          </a:xfrm>
          <a:prstGeom xmlns:a="http://schemas.openxmlformats.org/drawingml/2006/main" prst="rect">
            <a:avLst/>
          </a:prstGeom>
        </p:spPr>
      </p:pic>
      <p:pic>
        <p:nvPicPr>
          <p:cNvPr id="4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f8ca934c64d10">
            <a:alphaModFix amt="38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575300" y="8775700"/>
            <a:ext cx="12204700" cy="5537200"/>
          </a:xfrm>
          <a:prstGeom xmlns:a="http://schemas.openxmlformats.org/drawingml/2006/main" prst="rect">
            <a:avLst/>
          </a:prstGeom>
        </p:spPr>
      </p:pic>
      <p:pic>
        <p:nvPicPr>
          <p:cNvPr id="4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af799bbbf44ae">
            <a:alphaModFix amt="4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62400" y="10083800"/>
            <a:ext cx="11303000" cy="3619500"/>
          </a:xfrm>
          <a:prstGeom xmlns:a="http://schemas.openxmlformats.org/drawingml/2006/main" prst="rect">
            <a:avLst/>
          </a:prstGeom>
        </p:spPr>
      </p:pic>
      <p:pic>
        <p:nvPicPr>
          <p:cNvPr id="4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587a3867f40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498600"/>
            <a:ext cx="21971000" cy="76200"/>
          </a:xfrm>
          <a:prstGeom xmlns:a="http://schemas.openxmlformats.org/drawingml/2006/main" prst="rect">
            <a:avLst/>
          </a:prstGeom>
        </p:spPr>
      </p:pic>
      <p:pic>
        <p:nvPicPr>
          <p:cNvPr id="43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cfaeaa5cd4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38800" y="6667500"/>
            <a:ext cx="4724400" cy="1079500"/>
          </a:xfrm>
          <a:prstGeom xmlns:a="http://schemas.openxmlformats.org/drawingml/2006/main" prst="rect">
            <a:avLst/>
          </a:prstGeom>
        </p:spPr>
      </p:pic>
      <p:pic>
        <p:nvPicPr>
          <p:cNvPr id="44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fa734fca64e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380200" y="3848100"/>
            <a:ext cx="2654300" cy="26543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75550b6ea4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6692900"/>
            <a:ext cx="4724400" cy="1079500"/>
          </a:xfrm>
          <a:prstGeom xmlns:a="http://schemas.openxmlformats.org/drawingml/2006/main" prst="rect">
            <a:avLst/>
          </a:prstGeom>
        </p:spPr>
      </p:pic>
      <p:pic>
        <p:nvPicPr>
          <p:cNvPr id="4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d28dcf3b849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78000" y="3721100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6E3A788-8EC8-4A34-BBAE-A64B0C4F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8128000"/>
            <a:ext cx="4826000" cy="176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Dev Question 25개, Top K 3, Candidate K 10, RRF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하이브리드로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평가했습니다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B29B56B-FB8C-4AE2-9A50-5B603F4E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6908800"/>
            <a:ext cx="43942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평가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조건</a:t>
            </a:r>
            <a:endParaRPr sz="3200" b="0" i="0" u="none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4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7cb57749e49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55000" y="4203700"/>
            <a:ext cx="2070100" cy="22479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001dd06a64c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3400" y="6667500"/>
            <a:ext cx="4724400" cy="1079500"/>
          </a:xfrm>
          <a:prstGeom xmlns:a="http://schemas.openxmlformats.org/drawingml/2006/main" prst="rect">
            <a:avLst/>
          </a:prstGeom>
        </p:spPr>
      </p:pic>
      <p:pic>
        <p:nvPicPr>
          <p:cNvPr id="51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995d7cea645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00100" y="3721100"/>
            <a:ext cx="3073400" cy="3073400"/>
          </a:xfrm>
          <a:prstGeom xmlns:a="http://schemas.openxmlformats.org/drawingml/2006/main" prst="rect">
            <a:avLst/>
          </a:prstGeom>
        </p:spPr>
      </p:pic>
      <p:pic>
        <p:nvPicPr>
          <p:cNvPr id="5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cfaeaa5cd4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74600" y="6667500"/>
            <a:ext cx="4724400" cy="1079500"/>
          </a:xfrm>
          <a:prstGeom xmlns:a="http://schemas.openxmlformats.org/drawingml/2006/main" prst="rect">
            <a:avLst/>
          </a:prstGeom>
        </p:spPr>
      </p:pic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904CF86-42C5-40DC-9DC0-E59A7C7D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600" y="8128000"/>
            <a:ext cx="4826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Hit@1 0.76 · Hit@3 0.88 · MRR 0.800 · 0.601초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ED43AA5-0661-4293-A67C-2B5453C8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200" y="6908800"/>
            <a:ext cx="43942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Dense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EFE12383-741A-49F5-BC43-18E72B2A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800" y="8128000"/>
            <a:ext cx="4826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Hit@1 0.20 · Hit@3 0.32 · MRR 0.260 · 0.442초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09D6F76-4016-4EF2-8BC1-730D8872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6908800"/>
            <a:ext cx="43942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BM25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5770029-9A75-4502-B7A5-150D5F7A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500" y="8140700"/>
            <a:ext cx="495300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Hit@1 0.76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Hit@3 0.92, MRR 0.820으로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개선되었습니다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평균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검색시간은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1.043초입니다.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882BA455-A31D-4727-B499-63723303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3900" y="6908800"/>
            <a:ext cx="43942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3200" b="0" i="0" u="non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Hybrid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83D0D58-3B3D-4949-A0D5-30DE65EB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070100"/>
            <a:ext cx="22225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82973" anchor="b"/>
          <a:lstStyle xmlns:a="http://schemas.openxmlformats.org/drawingml/2006/main"/>
          <a:p xmlns:a="http://schemas.openxmlformats.org/drawingml/2006/main">
            <a:pPr lvl="0" algn="ctr">
              <a:lnSpc>
                <a:spcPct val="99600"/>
              </a:lnSpc>
              <a:buNone/>
            </a:pP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Dense vs BM25 vs Hybrid Retrieval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성능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비교</a:t>
            </a:r>
            <a:endParaRPr sz="65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8751842-3BA0-44B2-B37C-5025C8D1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10947400"/>
            <a:ext cx="5283200" cy="187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10409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그래프식 </a:t>
            </a:r>
          </a:p>
        </p:txBody>
      </p:sp>
    </p:spTree>
    <p:extLst>
      <p:ext uri="{BB962C8B-B14F-4D97-AF65-F5344CB8AC3E}">
        <p14:creationId xmlns:p14="http://schemas.microsoft.com/office/powerpoint/2010/main" val="18026473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473C3DAD-DC1C-4C32-AEC8-E0DF8F43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181600"/>
            <a:ext cx="11861800" cy="187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10409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방식 차이에 따른 답변 </a:t>
            </a:r>
          </a:p>
        </p:txBody>
      </p:sp>
    </p:spTree>
    <p:extLst>
      <p:ext uri="{BB962C8B-B14F-4D97-AF65-F5344CB8AC3E}">
        <p14:creationId xmlns:p14="http://schemas.microsoft.com/office/powerpoint/2010/main" val="19898334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7634673-1F43-4001-82C2-DA27EC62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1104900"/>
            <a:ext cx="5003800" cy="187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10409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프롬프트</a:t>
            </a:r>
          </a:p>
        </p:txBody>
      </p:sp>
    </p:spTree>
    <p:extLst>
      <p:ext uri="{BB962C8B-B14F-4D97-AF65-F5344CB8AC3E}">
        <p14:creationId xmlns:p14="http://schemas.microsoft.com/office/powerpoint/2010/main" val="8254743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399D6519-46F2-46F7-BB04-EEBA521E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673100"/>
            <a:ext cx="17437100" cy="1113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10409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스트림릿</a:t>
            </a:r>
          </a:p>
          <a:p xmlns:a="http://schemas.openxmlformats.org/drawingml/2006/main">
            <a:pPr marL="342900" lvl="1" indent="-342900" algn="l">
              <a:lnSpc>
                <a:spcPct val="116199"/>
              </a:lnSpc>
              <a:buAutoNum type="arabicPeriod"/>
            </a:pPr>
            <a:r>
              <a:rPr sz="10409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난이도별 답변 - 원문(출처)</a:t>
            </a:r>
          </a:p>
          <a:p xmlns:a="http://schemas.openxmlformats.org/drawingml/2006/main">
            <a:pPr marL="342900" lvl="1" indent="-342900" algn="l">
              <a:lnSpc>
                <a:spcPct val="116199"/>
              </a:lnSpc>
              <a:buAutoNum type="arabicPeriod"/>
            </a:pPr>
            <a:r>
              <a:rPr sz="10409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답변과정</a:t>
            </a:r>
          </a:p>
          <a:p xmlns:a="http://schemas.openxmlformats.org/drawingml/2006/main">
            <a:pPr marL="342900" lvl="1" indent="-342900" algn="l">
              <a:lnSpc>
                <a:spcPct val="116199"/>
              </a:lnSpc>
              <a:buAutoNum type="arabicPeriod"/>
            </a:pPr>
            <a:r>
              <a:rPr sz="10409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공정 견학</a:t>
            </a:r>
          </a:p>
          <a:p xmlns:a="http://schemas.openxmlformats.org/drawingml/2006/main">
            <a:pPr marL="342900" lvl="1" indent="-342900" algn="l">
              <a:lnSpc>
                <a:spcPct val="116199"/>
              </a:lnSpc>
              <a:buAutoNum type="arabicPeriod"/>
            </a:pPr>
            <a:r>
              <a:rPr sz="10409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평가 결과</a:t>
            </a:r>
          </a:p>
          <a:p xmlns:a="http://schemas.openxmlformats.org/drawingml/2006/main">
            <a:pPr marL="342900" lvl="1" indent="-342900" algn="l">
              <a:lnSpc>
                <a:spcPct val="116199"/>
              </a:lnSpc>
              <a:buAutoNum type="arabicPeriod"/>
            </a:pPr>
            <a:r>
              <a:rPr sz="10409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관련 키워드** - 키워드 이동</a:t>
            </a:r>
          </a:p>
        </p:txBody>
      </p:sp>
    </p:spTree>
    <p:extLst>
      <p:ext uri="{BB962C8B-B14F-4D97-AF65-F5344CB8AC3E}">
        <p14:creationId xmlns:p14="http://schemas.microsoft.com/office/powerpoint/2010/main" val="15390072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6610DEFD-1100-4B9A-B7D9-54F4C673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918200"/>
            <a:ext cx="9004300" cy="187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10409" b="0" i="0" u="non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서비스 존재 의의</a:t>
            </a:r>
          </a:p>
        </p:txBody>
      </p:sp>
    </p:spTree>
    <p:extLst>
      <p:ext uri="{BB962C8B-B14F-4D97-AF65-F5344CB8AC3E}">
        <p14:creationId xmlns:p14="http://schemas.microsoft.com/office/powerpoint/2010/main" val="9191799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aceed7cf5493a">
            <a:alphaModFix amt="7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4bf9f96494eb1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940000">
            <a:off x="-4483100" y="-2324100"/>
            <a:ext cx="10998200" cy="5461000"/>
          </a:xfrm>
          <a:prstGeom xmlns:a="http://schemas.openxmlformats.org/drawingml/2006/main" prst="rect">
            <a:avLst/>
          </a:prstGeom>
        </p:spPr>
      </p:pic>
      <p:pic>
        <p:nvPicPr>
          <p:cNvPr id="3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8e120fece40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498600"/>
            <a:ext cx="21971000" cy="762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3e3a93b23414f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70200" y="10160000"/>
            <a:ext cx="11264900" cy="4610100"/>
          </a:xfrm>
          <a:prstGeom xmlns:a="http://schemas.openxmlformats.org/drawingml/2006/main" prst="rect">
            <a:avLst/>
          </a:prstGeom>
        </p:spPr>
      </p:pic>
      <p:pic>
        <p:nvPicPr>
          <p:cNvPr id="3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5cd992bd448d1">
            <a:alphaModFix amt="5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330700" y="9499600"/>
            <a:ext cx="12268200" cy="5219700"/>
          </a:xfrm>
          <a:prstGeom xmlns:a="http://schemas.openxmlformats.org/drawingml/2006/main" prst="rect">
            <a:avLst/>
          </a:prstGeom>
        </p:spPr>
      </p:pic>
      <p:pic>
        <p:nvPicPr>
          <p:cNvPr id="3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7c70daee44211">
            <a:alphaModFix amt="2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11099800"/>
            <a:ext cx="3594100" cy="431800"/>
          </a:xfrm>
          <a:prstGeom xmlns:a="http://schemas.openxmlformats.org/drawingml/2006/main" prst="rect">
            <a:avLst/>
          </a:prstGeom>
        </p:spPr>
      </p:pic>
      <p:pic>
        <p:nvPicPr>
          <p:cNvPr id="3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a3c317cee4502">
            <a:alphaModFix amt="2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11785600"/>
            <a:ext cx="3594100" cy="431800"/>
          </a:xfrm>
          <a:prstGeom xmlns:a="http://schemas.openxmlformats.org/drawingml/2006/main" prst="rect">
            <a:avLst/>
          </a:prstGeom>
        </p:spPr>
      </p:pic>
      <p:pic>
        <p:nvPicPr>
          <p:cNvPr id="3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e3e9f7e174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4800" y="4051300"/>
            <a:ext cx="20878800" cy="3771900"/>
          </a:xfrm>
          <a:prstGeom xmlns:a="http://schemas.openxmlformats.org/drawingml/2006/main" prst="rect">
            <a:avLst/>
          </a:prstGeom>
        </p:spPr>
      </p:pic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79ED3E-E317-4998-961D-70254A36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4521200"/>
            <a:ext cx="20104100" cy="6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검색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속도와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평가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데이터</a:t>
            </a:r>
            <a:endParaRPr sz="3600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F458C6B-3B4E-4C51-8293-447D1524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5232400"/>
            <a:ext cx="20066000" cy="107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Hybrid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평균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검색시간은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1.043초로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Dense의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0.601초보다 약 0.44초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느립니다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 Dev Set 25개와 Regression Test 5개로는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일반화에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제약이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있습니다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40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ea0c7c8d546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4800" y="8153400"/>
            <a:ext cx="20878800" cy="3771900"/>
          </a:xfrm>
          <a:prstGeom xmlns:a="http://schemas.openxmlformats.org/drawingml/2006/main" prst="rect">
            <a:avLst/>
          </a:prstGeom>
        </p:spPr>
      </p:pic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249815C-7A84-4E5E-B4DF-5DA00907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8623300"/>
            <a:ext cx="20104100" cy="67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Retrieval과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Generation의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3600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분리</a:t>
            </a:r>
            <a:endParaRPr sz="3600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A6C59C7-5C1D-4CF6-A473-F6E03672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0" y="9334500"/>
            <a:ext cx="20066000" cy="584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l">
              <a:lnSpc>
                <a:spcPct val="116199"/>
              </a:lnSpc>
              <a:buNone/>
            </a:pP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정확해도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LLM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항상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정확한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것은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아닙니다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Retrieval과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Generation을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분리해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평가해야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합니다</a:t>
            </a:r>
            <a:r>
              <a:rPr sz="2800" b="0" i="0" u="non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43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791e733f349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68100" y="7429500"/>
            <a:ext cx="1104900" cy="1104900"/>
          </a:xfrm>
          <a:prstGeom xmlns:a="http://schemas.openxmlformats.org/drawingml/2006/main" prst="rect">
            <a:avLst/>
          </a:prstGeom>
        </p:spPr>
      </p:pic>
      <p:pic>
        <p:nvPicPr>
          <p:cNvPr id="44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328ec917e4d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11493500" y="7454900"/>
            <a:ext cx="1054100" cy="1054100"/>
          </a:xfrm>
          <a:prstGeom xmlns:a="http://schemas.openxmlformats.org/drawingml/2006/main" prst="rect">
            <a:avLst/>
          </a:prstGeom>
        </p:spPr>
      </p:pic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548C3F9-74E4-4597-BD8B-AE8F4063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070100"/>
            <a:ext cx="22225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82973" anchor="b"/>
          <a:lstStyle xmlns:a="http://schemas.openxmlformats.org/drawingml/2006/main"/>
          <a:p xmlns:a="http://schemas.openxmlformats.org/drawingml/2006/main">
            <a:pPr lvl="0" algn="ctr">
              <a:lnSpc>
                <a:spcPct val="99600"/>
              </a:lnSpc>
              <a:buNone/>
            </a:pP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현재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한계와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Trade-off</a:t>
            </a:r>
          </a:p>
        </p:txBody>
      </p:sp>
    </p:spTree>
    <p:extLst>
      <p:ext uri="{BB962C8B-B14F-4D97-AF65-F5344CB8AC3E}">
        <p14:creationId xmlns:p14="http://schemas.microsoft.com/office/powerpoint/2010/main" val="9499480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d1d22dd7c4275">
            <a:alphaModFix amt="7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3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4bdcc7d214399">
            <a:alphaModFix amt="63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1940000">
            <a:off x="-4483100" y="-2324100"/>
            <a:ext cx="10998200" cy="5461000"/>
          </a:xfrm>
          <a:prstGeom xmlns:a="http://schemas.openxmlformats.org/drawingml/2006/main" prst="rect">
            <a:avLst/>
          </a:prstGeom>
        </p:spPr>
      </p:pic>
      <p:pic>
        <p:nvPicPr>
          <p:cNvPr id="3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88def90344e16">
            <a:alphaModFix amt="38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575300" y="8775700"/>
            <a:ext cx="12204700" cy="5537200"/>
          </a:xfrm>
          <a:prstGeom xmlns:a="http://schemas.openxmlformats.org/drawingml/2006/main" prst="rect">
            <a:avLst/>
          </a:prstGeom>
        </p:spPr>
      </p:pic>
      <p:pic>
        <p:nvPicPr>
          <p:cNvPr id="3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e18955b324749">
            <a:alphaModFix amt="42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62400" y="11303000"/>
            <a:ext cx="11303000" cy="3619500"/>
          </a:xfrm>
          <a:prstGeom xmlns:a="http://schemas.openxmlformats.org/drawingml/2006/main" prst="rect">
            <a:avLst/>
          </a:prstGeom>
        </p:spPr>
      </p:pic>
      <p:pic>
        <p:nvPicPr>
          <p:cNvPr id="3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877ebfa1b4b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498600"/>
            <a:ext cx="21971000" cy="76200"/>
          </a:xfrm>
          <a:prstGeom xmlns:a="http://schemas.openxmlformats.org/drawingml/2006/main" prst="rect">
            <a:avLst/>
          </a:prstGeom>
        </p:spPr>
      </p:pic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3B2C379-9FE0-4C81-A1B5-A4AAFD93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43700"/>
            <a:ext cx="50038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1. Retrieval 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평가</a:t>
            </a:r>
            <a:endParaRPr sz="29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3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eb2b4b347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5200" y="7835900"/>
            <a:ext cx="4889500" cy="5067300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4193378-C027-4B71-90D6-74787B56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00" y="8178800"/>
            <a:ext cx="4203700" cy="176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별도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Holdout Question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Set으로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최종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Retriever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성능을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검증합니다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0F02577-49F3-4F00-8A07-816FEC88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6743700"/>
            <a:ext cx="50038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2. Chunking 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비교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실험</a:t>
            </a:r>
            <a:endParaRPr sz="29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3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aaf8134a94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7835900"/>
            <a:ext cx="4889500" cy="5067300"/>
          </a:xfrm>
          <a:prstGeom xmlns:a="http://schemas.openxmlformats.org/drawingml/2006/main" prst="rect">
            <a:avLst/>
          </a:prstGeom>
        </p:spPr>
      </p:pic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699874-C541-420D-8D58-82D9BBE3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400" y="8178800"/>
            <a:ext cx="4203700" cy="176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Chunk Size, Overlap,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문단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조건별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성능을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비교합니다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C56133E-0E6A-4A9F-9619-471A8E27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800" y="6743700"/>
            <a:ext cx="50038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3. 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검색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실패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사례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분석</a:t>
            </a:r>
            <a:endParaRPr sz="29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41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eb2b4b347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74600" y="7835900"/>
            <a:ext cx="4889500" cy="5067300"/>
          </a:xfrm>
          <a:prstGeom xmlns:a="http://schemas.openxmlformats.org/drawingml/2006/main" prst="rect">
            <a:avLst/>
          </a:prstGeom>
        </p:spPr>
      </p:pic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613814B-1D95-4D29-A0E6-759B444A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178800"/>
            <a:ext cx="4292600" cy="176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고유명사·유사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명칭·복합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질문·시간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조건으로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실패를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분류합니다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6574555E-417F-4D93-9974-FA1AB988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6743700"/>
            <a:ext cx="5003800" cy="55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 algn="ctr">
              <a:lnSpc>
                <a:spcPct val="137780"/>
              </a:lnSpc>
              <a:buNone/>
            </a:pP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4. Retriever 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추가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29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개선</a:t>
            </a:r>
            <a:endParaRPr sz="29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44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eb2b4b347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29300" y="7835900"/>
            <a:ext cx="4889500" cy="5067300"/>
          </a:xfrm>
          <a:prstGeom xmlns:a="http://schemas.openxmlformats.org/drawingml/2006/main" prst="rect">
            <a:avLst/>
          </a:prstGeom>
        </p:spPr>
      </p:pic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472A32D-4868-4403-B3C5-E99FE50E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800" y="8178800"/>
            <a:ext cx="420370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Title Matching, Metadata Filtering, Reranking, Query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Rewriting을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적용합니다</a:t>
            </a:r>
            <a:r>
              <a:rPr sz="2800" b="0" i="0" u="none">
                <a:solidFill>
                  <a:srgbClr val="230E55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3169EF8-5C06-4566-9A76-17F3EE57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070100"/>
            <a:ext cx="22225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82973" anchor="b"/>
          <a:lstStyle xmlns:a="http://schemas.openxmlformats.org/drawingml/2006/main"/>
          <a:p xmlns:a="http://schemas.openxmlformats.org/drawingml/2006/main">
            <a:pPr lvl="0" algn="ctr">
              <a:lnSpc>
                <a:spcPct val="99600"/>
              </a:lnSpc>
              <a:buNone/>
            </a:pP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단기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개선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계획</a:t>
            </a:r>
            <a:endParaRPr sz="65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</p:spTree>
    <p:extLst>
      <p:ext uri="{BB962C8B-B14F-4D97-AF65-F5344CB8AC3E}">
        <p14:creationId xmlns:p14="http://schemas.microsoft.com/office/powerpoint/2010/main" val="5196944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a3ddd5cc542b3">
            <a:alphaModFix amt="7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9780000">
            <a:off x="-4368800" y="-2222500"/>
            <a:ext cx="9994900" cy="4965700"/>
          </a:xfrm>
          <a:prstGeom xmlns:a="http://schemas.openxmlformats.org/drawingml/2006/main" prst="rect">
            <a:avLst/>
          </a:prstGeom>
        </p:spPr>
      </p:pic>
      <p:pic>
        <p:nvPicPr>
          <p:cNvPr id="1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883e6a515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2840000">
            <a:off x="18326100" y="-1384300"/>
            <a:ext cx="9105900" cy="4673600"/>
          </a:xfrm>
          <a:prstGeom xmlns:a="http://schemas.openxmlformats.org/drawingml/2006/main" prst="rect">
            <a:avLst/>
          </a:prstGeom>
        </p:spPr>
      </p:pic>
      <p:pic>
        <p:nvPicPr>
          <p:cNvPr id="2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5874e26aa4d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498600"/>
            <a:ext cx="21971000" cy="76200"/>
          </a:xfrm>
          <a:prstGeom xmlns:a="http://schemas.openxmlformats.org/drawingml/2006/main" prst="rect">
            <a:avLst/>
          </a:prstGeom>
        </p:spPr>
      </p:pic>
      <p:pic>
        <p:nvPicPr>
          <p:cNvPr id="2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5e2925a4348d3">
            <a:alphaModFix amt="9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70000" y="5054600"/>
            <a:ext cx="14681200" cy="8674100"/>
          </a:xfrm>
          <a:prstGeom xmlns:a="http://schemas.openxmlformats.org/drawingml/2006/main" prst="rect">
            <a:avLst/>
          </a:prstGeom>
        </p:spPr>
      </p:pic>
      <p:pic>
        <p:nvPicPr>
          <p:cNvPr id="2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c4cd0a40348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133600" y="10883900"/>
            <a:ext cx="9105900" cy="3746500"/>
          </a:xfrm>
          <a:prstGeom xmlns:a="http://schemas.openxmlformats.org/drawingml/2006/main" prst="rect">
            <a:avLst/>
          </a:prstGeom>
        </p:spPr>
      </p:pic>
      <p:pic>
        <p:nvPicPr>
          <p:cNvPr id="23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70a9fe29f4f0b">
            <a:alphaModFix amt="21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3900" y="9359900"/>
            <a:ext cx="3594100" cy="431800"/>
          </a:xfrm>
          <a:prstGeom xmlns:a="http://schemas.openxmlformats.org/drawingml/2006/main" prst="rect">
            <a:avLst/>
          </a:prstGeom>
        </p:spPr>
      </p:pic>
      <p:pic>
        <p:nvPicPr>
          <p:cNvPr id="24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68298d0184b17">
            <a:alphaModFix amt="21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44800" y="10033000"/>
            <a:ext cx="3594100" cy="431800"/>
          </a:xfrm>
          <a:prstGeom xmlns:a="http://schemas.openxmlformats.org/drawingml/2006/main" prst="rect">
            <a:avLst/>
          </a:prstGeom>
        </p:spPr>
      </p:pic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AD5CB26-B4AE-4048-8760-08200C6A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3784600"/>
            <a:ext cx="20485100" cy="72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4000" b="0" i="0" u="none">
                <a:solidFill>
                  <a:srgbClr val="230E55"/>
                </a:solidFill>
                <a:latin typeface="NanumSquareRoundOTF Bold"/>
                <a:ea typeface="NanumSquareRoundOTF Bold"/>
                <a:cs typeface="NanumSquareRoundOTF Bold"/>
              </a:rPr>
              <a:t>최신성 검증과 Fine-tuning을 강화해, 검색을 잘하는 RAG에서 신뢰할 수 있는 RAG 서비스로 발전시킵니다.</a:t>
            </a:r>
          </a:p>
          <a:p xmlns:a="http://schemas.openxmlformats.org/drawingml/2006/main">
            <a:pPr lvl="0" algn="ctr">
              <a:lnSpc>
                <a:spcPct val="132800"/>
              </a:lnSpc>
              <a:buNone/>
            </a:pPr>
            <a:endParaRPr sz="4000" b="0" i="0" u="none">
              <a:solidFill>
                <a:srgbClr val="230E55"/>
              </a:solidFill>
              <a:latin typeface="NanumSquareRoundOTF Bold"/>
              <a:ea typeface="NanumSquareRoundOTF Bold"/>
              <a:cs typeface="NanumSquareRoundOTF Bold"/>
            </a:endParaRPr>
          </a:p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4000" b="0" i="0" u="none">
                <a:solidFill>
                  <a:srgbClr val="230E55"/>
                </a:solidFill>
                <a:latin typeface="NanumSquareRoundOTF Bold"/>
                <a:ea typeface="NanumSquareRoundOTF Bold"/>
                <a:cs typeface="NanumSquareRoundOTF Bold"/>
              </a:rPr>
              <a:t>- 질문의 시간 조건 탐지 → 문서 lastModifiedTime 확인 → 시점 비교</a:t>
            </a:r>
          </a:p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4000" b="0" i="0" u="none">
                <a:solidFill>
                  <a:srgbClr val="230E55"/>
                </a:solidFill>
                <a:latin typeface="NanumSquareRoundOTF Bold"/>
                <a:ea typeface="NanumSquareRoundOTF Bold"/>
                <a:cs typeface="NanumSquareRoundOTF Bold"/>
              </a:rPr>
              <a:t>- 근거가 부족하면 답변을 거절하는 행동 강화</a:t>
            </a:r>
          </a:p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4000" b="0" i="0" u="none">
                <a:solidFill>
                  <a:srgbClr val="230E55"/>
                </a:solidFill>
                <a:latin typeface="NanumSquareRoundOTF Bold"/>
                <a:ea typeface="NanumSquareRoundOTF Bold"/>
                <a:cs typeface="NanumSquareRoundOTF Bold"/>
              </a:rPr>
              <a:t>- 평가 지표: Retrieval Hit@K, MRR, Grounding·Citation 정확도, 거절 정확도, 응답 시간, 비용</a:t>
            </a:r>
          </a:p>
          <a:p xmlns:a="http://schemas.openxmlformats.org/drawingml/2006/main">
            <a:pPr lvl="0" algn="ctr">
              <a:lnSpc>
                <a:spcPct val="132800"/>
              </a:lnSpc>
              <a:buNone/>
            </a:pPr>
            <a:endParaRPr sz="4000" b="0" i="0" u="none">
              <a:solidFill>
                <a:srgbClr val="230E55"/>
              </a:solidFill>
              <a:latin typeface="NanumSquareRoundOTF Bold"/>
              <a:ea typeface="NanumSquareRoundOTF Bold"/>
              <a:cs typeface="NanumSquareRoundOTF Bold"/>
            </a:endParaRPr>
          </a:p>
          <a:p xmlns:a="http://schemas.openxmlformats.org/drawingml/2006/main">
            <a:pPr lvl="0" algn="ctr">
              <a:lnSpc>
                <a:spcPct val="132800"/>
              </a:lnSpc>
              <a:buNone/>
            </a:pPr>
            <a:r>
              <a:rPr sz="4000" b="0" i="0" u="none">
                <a:solidFill>
                  <a:srgbClr val="230E55"/>
                </a:solidFill>
                <a:latin typeface="NanumSquareRoundOTF Bold"/>
                <a:ea typeface="NanumSquareRoundOTF Bold"/>
                <a:cs typeface="NanumSquareRoundOTF Bold"/>
              </a:rPr>
              <a:t>최종적으로 검색된 문서가 실제 답변 근거로 적절한지까지 판단하는 시스템을 목표로 합니다.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9744CFA-326A-4CB6-9977-BFB951F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070100"/>
            <a:ext cx="22225000" cy="119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82973" anchor="b"/>
          <a:lstStyle xmlns:a="http://schemas.openxmlformats.org/drawingml/2006/main"/>
          <a:p xmlns:a="http://schemas.openxmlformats.org/drawingml/2006/main">
            <a:pPr lvl="0" algn="ctr">
              <a:lnSpc>
                <a:spcPct val="99600"/>
              </a:lnSpc>
              <a:buNone/>
            </a:pP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장기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개선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sz="6533" b="0" i="0" u="none">
                <a:solidFill>
                  <a:srgbClr val="230E55"/>
                </a:solidFill>
                <a:latin typeface="Pretendard Black"/>
                <a:ea typeface="Pretendard Black"/>
                <a:cs typeface="Pretendard Black"/>
              </a:rPr>
              <a:t>목표</a:t>
            </a:r>
            <a:endParaRPr sz="6533" b="0" i="0" u="none">
              <a:solidFill>
                <a:srgbClr val="230E55"/>
              </a:solidFill>
              <a:latin typeface="Pretendard Black"/>
              <a:ea typeface="Pretendard Black"/>
              <a:cs typeface="Pretendard Black"/>
            </a:endParaRPr>
          </a:p>
        </p:txBody>
      </p:sp>
    </p:spTree>
    <p:extLst>
      <p:ext uri="{BB962C8B-B14F-4D97-AF65-F5344CB8AC3E}">
        <p14:creationId xmlns:p14="http://schemas.microsoft.com/office/powerpoint/2010/main" val="158485226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2026-09-01T12:01:09.9450000Z</dcterms:created>
  <dcterms:modified xsi:type="dcterms:W3CDTF">2026-09-01T12:01:09.9450000Z</dcterms:modified>
</coreProperties>
</file>